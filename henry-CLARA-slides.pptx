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1600200"/>
            <a:ext cx="10972525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1600200"/>
            <a:ext cx="10972525" cy="4525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84" y="6356350"/>
            <a:ext cx="284472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495" y="6356350"/>
            <a:ext cx="38607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381" y="6356350"/>
            <a:ext cx="284472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CLARA Monthly Tagup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October 20, 2026</a:t>
            </a:r>
          </a:p>
          <a:p>
            <a:endParaRPr sz="2000"/>
          </a:p>
          <a:p>
            <a:r>
              <a:rPr sz="2000"/>
              <a:t>Henry Kautz, University of Virginia</a:t>
            </a:r>
          </a:p>
          <a:p>
            <a:r>
              <a:rPr sz="2000"/>
              <a:t>Steven Holtzen, Northeastern University</a:t>
            </a:r>
          </a:p>
          <a:p>
            <a:r>
              <a:rPr sz="2000"/>
              <a:t>Zhe Zeng, University of Virginia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and Plan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10698480" cy="49377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800" b="1"/>
              <a:t>Planning:</a:t>
            </a:r>
            <a:r>
              <a:rPr sz="2800"/>
              <a:t> from an initial state, find actions that achieve a goal</a:t>
            </a:r>
          </a:p>
          <a:p>
            <a:pPr>
              <a:spcBef>
                <a:spcPts val="600"/>
              </a:spcBef>
            </a:pPr>
            <a:r>
              <a:rPr sz="2800" b="1"/>
              <a:t>PDDL:</a:t>
            </a:r>
            <a:r>
              <a:rPr sz="2800"/>
              <a:t> standard language for planning domains and problems</a:t>
            </a:r>
          </a:p>
          <a:p>
            <a:pPr lvl="1">
              <a:spcBef>
                <a:spcPts val="200"/>
              </a:spcBef>
            </a:pPr>
            <a:r>
              <a:rPr sz="2400"/>
              <a:t>objects, predicates, actions with preconditions and effects</a:t>
            </a:r>
          </a:p>
          <a:p>
            <a:pPr>
              <a:spcBef>
                <a:spcPts val="600"/>
              </a:spcBef>
            </a:pPr>
            <a:r>
              <a:rPr sz="2800" b="1"/>
              <a:t>Action costs, goal utilities:</a:t>
            </a:r>
            <a:r>
              <a:rPr sz="2800"/>
              <a:t> a plan's value is the utility of the goals it reaches minus the cost of its actions</a:t>
            </a:r>
          </a:p>
          <a:p>
            <a:pPr>
              <a:spcBef>
                <a:spcPts val="600"/>
              </a:spcBef>
            </a:pPr>
            <a:r>
              <a:rPr sz="2800" b="1"/>
              <a:t>Disjunctive goals:</a:t>
            </a:r>
            <a:r>
              <a:rPr sz="2800"/>
              <a:t> the agent pursues </a:t>
            </a:r>
            <a:r>
              <a:rPr sz="2800" i="1"/>
              <a:t>one</a:t>
            </a:r>
            <a:r>
              <a:rPr sz="2800"/>
              <a:t> of several possible goals</a:t>
            </a:r>
          </a:p>
          <a:p>
            <a:pPr>
              <a:spcBef>
                <a:spcPts val="600"/>
              </a:spcBef>
            </a:pPr>
            <a:r>
              <a:rPr sz="2800" b="1"/>
              <a:t>Plan recognition</a:t>
            </a:r>
            <a:r>
              <a:rPr sz="2800"/>
              <a:t> runs planning in reverse: observe some actions, infer which goal the agent is pursuing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Domain: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10698480" cy="49377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800" dirty="0"/>
              <a:t>Packages, trucks, and airplanes</a:t>
            </a:r>
          </a:p>
          <a:p>
            <a:pPr lvl="1">
              <a:spcBef>
                <a:spcPts val="200"/>
              </a:spcBef>
            </a:pPr>
            <a:r>
              <a:rPr sz="2400" dirty="0"/>
              <a:t>trucks drive between places on roads</a:t>
            </a:r>
          </a:p>
          <a:p>
            <a:pPr lvl="1">
              <a:spcBef>
                <a:spcPts val="200"/>
              </a:spcBef>
            </a:pPr>
            <a:r>
              <a:rPr sz="2400" dirty="0"/>
              <a:t>airplanes fly between airports</a:t>
            </a:r>
          </a:p>
          <a:p>
            <a:pPr lvl="1">
              <a:spcBef>
                <a:spcPts val="200"/>
              </a:spcBef>
            </a:pPr>
            <a:r>
              <a:rPr sz="2400" dirty="0"/>
              <a:t>packages are loaded, unloaded, and transferred between vehicles</a:t>
            </a:r>
          </a:p>
          <a:p>
            <a:pPr>
              <a:spcBef>
                <a:spcPts val="600"/>
              </a:spcBef>
            </a:pPr>
            <a:r>
              <a:rPr sz="2800" dirty="0"/>
              <a:t>Finding a minimum-cost plan is NP-complete</a:t>
            </a:r>
          </a:p>
          <a:p>
            <a:pPr lvl="1">
              <a:spcBef>
                <a:spcPts val="200"/>
              </a:spcBef>
            </a:pPr>
            <a:r>
              <a:rPr sz="2400" dirty="0"/>
              <a:t>one truck delivering packages to </a:t>
            </a:r>
            <a:r>
              <a:rPr sz="2400" i="1" dirty="0"/>
              <a:t>n</a:t>
            </a:r>
            <a:r>
              <a:rPr sz="2400" dirty="0"/>
              <a:t> cities, with a cost on each road, is the traveling salesman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Planning to Plan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146304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200"/>
              <a:t>How do we get a probability distribution from a planning problem plus evidence?</a:t>
            </a:r>
          </a:p>
          <a:p>
            <a:pPr>
              <a:spcBef>
                <a:spcPts val="600"/>
              </a:spcBef>
            </a:pPr>
            <a:r>
              <a:rPr sz="2200"/>
              <a:t>Treat every plan τ up to horizon </a:t>
            </a:r>
            <a:r>
              <a:rPr sz="2200" i="1"/>
              <a:t>H</a:t>
            </a:r>
            <a:r>
              <a:rPr sz="2200"/>
              <a:t> as possible, with probability exponential in its net utility:</a:t>
            </a:r>
          </a:p>
        </p:txBody>
      </p:sp>
      <p:sp>
        <p:nvSpPr>
          <p:cNvPr id="903" name="Body 3"/>
          <p:cNvSpPr>
            <a:spLocks noGrp="1"/>
          </p:cNvSpPr>
          <p:nvPr>
            <p:ph idx="1"/>
          </p:nvPr>
        </p:nvSpPr>
        <p:spPr>
          <a:xfrm>
            <a:off x="731520" y="4023360"/>
            <a:ext cx="10698480" cy="54864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200"/>
              <a:t>Probability of goal </a:t>
            </a:r>
            <a:r>
              <a:rPr sz="2200" i="1"/>
              <a:t>g</a:t>
            </a:r>
            <a:r>
              <a:rPr sz="2200"/>
              <a:t> given observations </a:t>
            </a:r>
            <a:r>
              <a:rPr sz="2200" i="1"/>
              <a:t>O</a:t>
            </a:r>
            <a:r>
              <a:rPr sz="2200"/>
              <a:t>  (τ ⊨ O ∧ g: plan τ fits </a:t>
            </a:r>
            <a:r>
              <a:rPr sz="2200" i="1"/>
              <a:t>O</a:t>
            </a:r>
            <a:r>
              <a:rPr sz="2200"/>
              <a:t> and reaches </a:t>
            </a:r>
            <a:r>
              <a:rPr sz="2200" i="1"/>
              <a:t>g</a:t>
            </a:r>
            <a:r>
              <a:rPr sz="2200"/>
              <a:t>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"/>
              <p:cNvSpPr txBox="1"/>
              <p:nvPr/>
            </p:nvSpPr>
            <p:spPr>
              <a:xfrm>
                <a:off x="731520" y="2834640"/>
                <a:ext cx="10698480" cy="109728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400">
                          <a:latin typeface="Cambria Math"/>
                        </a:rPr>
                        <m:t>𝑃</m:t>
                      </m:r>
                      <m: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𝜏</m:t>
                      </m:r>
                      <m:r>
                        <a:rPr sz="2400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sz="240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sz="240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2400">
                                  <a:latin typeface="Cambria Math"/>
                                </a:rPr>
                                <m:t>𝑈</m:t>
                              </m:r>
                              <m:r>
                                <a:rPr sz="2400">
                                  <a:latin typeface="Cambria Math"/>
                                </a:rPr>
                                <m:t>(</m:t>
                              </m:r>
                              <m:r>
                                <a:rPr sz="2400">
                                  <a:latin typeface="Cambria Math"/>
                                </a:rPr>
                                <m:t>𝜏</m:t>
                              </m:r>
                              <m:r>
                                <a:rPr sz="2400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sz="2400">
                              <a:latin typeface="Cambria Math"/>
                            </a:rPr>
                            <m:t>𝑍</m:t>
                          </m:r>
                        </m:den>
                      </m:f>
                      <m:r>
                        <a:rPr sz="2400">
                          <a:latin typeface="Cambria Math"/>
                        </a:rPr>
                        <m:t>,  </m:t>
                      </m:r>
                      <m:r>
                        <a:rPr sz="2400">
                          <a:latin typeface="Cambria Math"/>
                        </a:rPr>
                        <m:t>𝑈</m:t>
                      </m:r>
                      <m: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𝜏</m:t>
                      </m:r>
                      <m:r>
                        <a:rPr sz="2400">
                          <a:latin typeface="Cambria Math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sz="2400">
                              <a:latin typeface="Cambria Math"/>
                            </a:rPr>
                          </m:ctrlPr>
                        </m:naryPr>
                        <m:sub>
                          <m:r>
                            <a:rPr sz="2400">
                              <a:latin typeface="Cambria Math"/>
                            </a:rPr>
                            <m:t>𝑔</m:t>
                          </m:r>
                          <m:r>
                            <a:rPr sz="2400">
                              <a:latin typeface="Cambria Math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goals</m:t>
                          </m:r>
                          <m:r>
                            <a:rPr sz="2400">
                              <a:latin typeface="Cambria Math"/>
                            </a:rPr>
                            <m:t>(</m:t>
                          </m:r>
                          <m:r>
                            <a:rPr sz="2400">
                              <a:latin typeface="Cambria Math"/>
                            </a:rPr>
                            <m:t>𝜏</m:t>
                          </m:r>
                          <m:r>
                            <a:rPr sz="2400">
                              <a:latin typeface="Cambria Math"/>
                            </a:rPr>
                            <m:t>)</m:t>
                          </m:r>
                        </m:sub>
                        <m:sup>
                          <m:r>
                            <a:rPr sz="2400">
                              <a:latin typeface="Cambria Math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sz="240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400">
                                  <a:latin typeface="Cambria Math"/>
                                </a:rPr>
                                <m:t>𝑢</m:t>
                              </m:r>
                            </m:e>
                            <m:sub>
                              <m:r>
                                <a:rPr sz="2400">
                                  <a:latin typeface="Cambria Math"/>
                                </a:rPr>
                                <m:t>𝑔</m:t>
                              </m:r>
                            </m:sub>
                          </m:sSub>
                        </m:e>
                      </m:nary>
                      <m:r>
                        <a:rPr sz="2400">
                          <a:latin typeface="Cambria Math"/>
                        </a:rPr>
                        <m:t> − </m:t>
                      </m:r>
                      <m:nary>
                        <m:naryPr>
                          <m:chr m:val="∑"/>
                          <m:limLoc m:val="undOvr"/>
                          <m:ctrlPr>
                            <a:rPr sz="2400">
                              <a:latin typeface="Cambria Math"/>
                            </a:rPr>
                          </m:ctrlPr>
                        </m:naryPr>
                        <m:sub>
                          <m:r>
                            <a:rPr sz="2400">
                              <a:latin typeface="Cambria Math"/>
                            </a:rPr>
                            <m:t>𝑎</m:t>
                          </m:r>
                          <m:r>
                            <a:rPr sz="2400">
                              <a:latin typeface="Cambria Math"/>
                            </a:rPr>
                            <m:t>∈</m:t>
                          </m:r>
                          <m:r>
                            <a:rPr sz="2400">
                              <a:latin typeface="Cambria Math"/>
                            </a:rPr>
                            <m:t>𝜏</m:t>
                          </m:r>
                        </m:sub>
                        <m:sup>
                          <m:r>
                            <a:rPr sz="2400">
                              <a:latin typeface="Cambria Math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sz="240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sz="2400"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sz="2400">
                                  <a:latin typeface="Cambria Math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Equation"/>
              <p:cNvSpPr txBox="1"/>
              <p:nvPr/>
            </p:nvSpPr>
            <p:spPr>
              <a:xfrm>
                <a:off x="731520" y="2834640"/>
                <a:ext cx="10698480" cy="109728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2400"/>
                  <a:t>P(\tau) = \frac{e^{U(\tau)}}{Z}, \qquad U(\tau) = \sum_{g \in \mathrm{goals}(\tau)} u_g \;-\; \sum_{a \in \tau} c_a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4" name="Equation"/>
              <p:cNvSpPr txBox="1"/>
              <p:nvPr/>
            </p:nvSpPr>
            <p:spPr>
              <a:xfrm>
                <a:off x="731520" y="4663440"/>
                <a:ext cx="10698480" cy="13716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400">
                          <a:latin typeface="Cambria Math"/>
                        </a:rPr>
                        <m:t>𝑃</m:t>
                      </m:r>
                      <m: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𝑔</m:t>
                      </m:r>
                      <m:r>
                        <a:rPr sz="2400">
                          <a:latin typeface="Cambria Math"/>
                        </a:rPr>
                        <m:t>∣</m:t>
                      </m:r>
                      <m:r>
                        <a:rPr sz="2400">
                          <a:latin typeface="Cambria Math"/>
                        </a:rPr>
                        <m:t>𝑂</m:t>
                      </m:r>
                      <m:r>
                        <a:rPr sz="2400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sz="240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sz="2400">
                                  <a:latin typeface="Cambria Math"/>
                                </a:rPr>
                                <m:t>𝜏</m:t>
                              </m:r>
                              <m:r>
                                <a:rPr sz="2400">
                                  <a:latin typeface="Cambria Math"/>
                                </a:rPr>
                                <m:t>⊨</m:t>
                              </m:r>
                              <m:r>
                                <a:rPr sz="2400">
                                  <a:latin typeface="Cambria Math"/>
                                </a:rPr>
                                <m:t>𝑂</m:t>
                              </m:r>
                              <m:r>
                                <a:rPr sz="2400">
                                  <a:latin typeface="Cambria Math"/>
                                </a:rPr>
                                <m:t>∧</m:t>
                              </m:r>
                              <m:r>
                                <a:rPr sz="2400">
                                  <a:latin typeface="Cambria Math"/>
                                </a:rPr>
                                <m:t>𝑔</m:t>
                              </m:r>
                            </m:sub>
                            <m:sup>
                              <m:r>
                                <a:rPr sz="2400"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sz="240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sz="2400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sz="2400">
                                      <a:latin typeface="Cambria Math"/>
                                    </a:rPr>
                                    <m:t>𝑈</m:t>
                                  </m:r>
                                  <m:r>
                                    <a:rPr sz="240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sz="2400">
                                      <a:latin typeface="Cambria Math"/>
                                    </a:rPr>
                                    <m:t>𝜏</m:t>
                                  </m:r>
                                  <m:r>
                                    <a:rPr sz="2400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sz="240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sz="2400">
                                  <a:latin typeface="Cambria Math"/>
                                </a:rPr>
                                <m:t>𝜏</m:t>
                              </m:r>
                              <m:r>
                                <a:rPr sz="2400">
                                  <a:latin typeface="Cambria Math"/>
                                </a:rPr>
                                <m:t>⊨</m:t>
                              </m:r>
                              <m:r>
                                <a:rPr sz="2400">
                                  <a:latin typeface="Cambria Math"/>
                                </a:rPr>
                                <m:t>𝑂</m:t>
                              </m:r>
                            </m:sub>
                            <m:sup>
                              <m:r>
                                <a:rPr sz="2400"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sz="240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sz="2400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sz="2400">
                                      <a:latin typeface="Cambria Math"/>
                                    </a:rPr>
                                    <m:t>𝑈</m:t>
                                  </m:r>
                                  <m:r>
                                    <a:rPr sz="2400"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sz="2400">
                                      <a:latin typeface="Cambria Math"/>
                                    </a:rPr>
                                    <m:t>𝜏</m:t>
                                  </m:r>
                                  <m:r>
                                    <a:rPr sz="2400">
                                      <a:latin typeface="Cambria Math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04" name="Equation"/>
              <p:cNvSpPr txBox="1"/>
              <p:nvPr/>
            </p:nvSpPr>
            <p:spPr>
              <a:xfrm>
                <a:off x="731520" y="4663440"/>
                <a:ext cx="10698480" cy="13716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2400"/>
                  <a:t>P(g \mid O) = \frac{\sum_{\tau \models O \wedge g} e^{U(\tau)}}{\sum_{\tau \models O} e^{U(\tau)}}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4" name="Cell 1"/>
          <p:cNvSpPr/>
          <p:nvPr/>
        </p:nvSpPr>
        <p:spPr>
          <a:xfrm>
            <a:off x="2011680" y="1463040"/>
            <a:ext cx="1920240" cy="822960"/>
          </a:xfrm>
          <a:prstGeom prst="rect">
            <a:avLst/>
          </a:prstGeom>
          <a:solidFill>
            <a:srgbClr val="DDE8F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000000"/>
                </a:solidFill>
              </a:rPr>
              <a:t>g1</a:t>
            </a:r>
          </a:p>
        </p:txBody>
      </p:sp>
      <p:sp>
        <p:nvSpPr>
          <p:cNvPr id="5" name="Cell 2"/>
          <p:cNvSpPr/>
          <p:nvPr/>
        </p:nvSpPr>
        <p:spPr>
          <a:xfrm>
            <a:off x="4114800" y="1463040"/>
            <a:ext cx="1920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6" name="Cell 3"/>
          <p:cNvSpPr/>
          <p:nvPr/>
        </p:nvSpPr>
        <p:spPr>
          <a:xfrm>
            <a:off x="6217920" y="1463040"/>
            <a:ext cx="19202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ell 4"/>
          <p:cNvSpPr/>
          <p:nvPr/>
        </p:nvSpPr>
        <p:spPr>
          <a:xfrm>
            <a:off x="8321040" y="1463040"/>
            <a:ext cx="1920240" cy="822960"/>
          </a:xfrm>
          <a:prstGeom prst="rect">
            <a:avLst/>
          </a:prstGeom>
          <a:solidFill>
            <a:srgbClr val="DDE8F5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000000"/>
                </a:solidFill>
              </a:rPr>
              <a:t>g2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Each move costs 1 · each goal is worth +4 · horizon 3 (waiting is free)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32918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/>
                        <a:t>Plans ending 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No 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After a move right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/>
                        <a:t>g1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0.72</a:t>
                      </a:r>
                      <a:r>
                        <a:rPr sz="1800"/>
                        <a:t>  (3 plans of U = 3, 2 of U =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0.15</a:t>
                      </a:r>
                      <a:r>
                        <a:rPr sz="1800"/>
                        <a:t>  (1 plan of U = 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/>
                        <a:t>g2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0.24</a:t>
                      </a:r>
                      <a:r>
                        <a:rPr sz="1800"/>
                        <a:t>  (3 plans of U = 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0.81</a:t>
                      </a:r>
                      <a:r>
                        <a:rPr sz="1800"/>
                        <a:t>  (2 plans of U = 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/>
                        <a:t>neither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0.03  (13 plans)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0.04  (5 plans)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g1 is still possible after moving right, but much less likely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Baseline: Translation to FiFO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118872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200" b="1"/>
              <a:t>FiFO:</a:t>
            </a:r>
            <a:r>
              <a:rPr sz="2200"/>
              <a:t> finite-domain first-order logic, compiled to propositional CNF</a:t>
            </a:r>
          </a:p>
          <a:p>
            <a:pPr>
              <a:spcBef>
                <a:spcPts val="600"/>
              </a:spcBef>
            </a:pPr>
            <a:r>
              <a:rPr sz="2200" b="1"/>
              <a:t>Weighted logic (Markov logic):</a:t>
            </a:r>
            <a:r>
              <a:rPr sz="2200"/>
              <a:t> each weighted formula adds its cost when true</a:t>
            </a:r>
          </a:p>
        </p:txBody>
      </p:sp>
      <p:sp>
        <p:nvSpPr>
          <p:cNvPr id="903" name="Body 3"/>
          <p:cNvSpPr>
            <a:spLocks noGrp="1"/>
          </p:cNvSpPr>
          <p:nvPr>
            <p:ph idx="1"/>
          </p:nvPr>
        </p:nvSpPr>
        <p:spPr>
          <a:xfrm>
            <a:off x="731520" y="3474720"/>
            <a:ext cx="10698480" cy="17373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200" b="1"/>
              <a:t>SATPLAN:</a:t>
            </a:r>
            <a:r>
              <a:rPr sz="2200"/>
              <a:t> a PDDL problem at horizon </a:t>
            </a:r>
            <a:r>
              <a:rPr sz="2200" i="1"/>
              <a:t>H</a:t>
            </a:r>
            <a:r>
              <a:rPr sz="2200"/>
              <a:t> becomes CNF over atoms </a:t>
            </a:r>
            <a:r>
              <a:rPr sz="2200" i="1"/>
              <a:t>holds(f, t)</a:t>
            </a:r>
            <a:r>
              <a:rPr sz="2200"/>
              <a:t> and </a:t>
            </a:r>
            <a:r>
              <a:rPr sz="2200" i="1"/>
              <a:t>occurs(a, t)</a:t>
            </a:r>
          </a:p>
          <a:p>
            <a:pPr lvl="1">
              <a:spcBef>
                <a:spcPts val="200"/>
              </a:spcBef>
            </a:pPr>
            <a:r>
              <a:rPr sz="1800"/>
              <a:t>each satisfying assignment is a plan; action costs become weights</a:t>
            </a:r>
          </a:p>
          <a:p>
            <a:pPr>
              <a:spcBef>
                <a:spcPts val="600"/>
              </a:spcBef>
            </a:pPr>
            <a:r>
              <a:rPr sz="2200"/>
              <a:t>Plan recognition is then a ratio of weighted model counts: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"/>
              <p:cNvSpPr txBox="1"/>
              <p:nvPr/>
            </p:nvSpPr>
            <p:spPr>
              <a:xfrm>
                <a:off x="731520" y="2560320"/>
                <a:ext cx="10698480" cy="9144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400">
                          <a:latin typeface="Cambria Math"/>
                        </a:rPr>
                        <m:t>𝑃</m:t>
                      </m:r>
                      <m: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𝑥</m:t>
                      </m:r>
                      <m:r>
                        <a:rPr sz="2400">
                          <a:latin typeface="Cambria Math"/>
                        </a:rPr>
                        <m:t>)∝</m:t>
                      </m:r>
                      <m:r>
                        <m:rPr>
                          <m:sty m:val="p"/>
                        </m:rPr>
                        <a:rPr sz="2400">
                          <a:latin typeface="Cambria Math"/>
                        </a:rPr>
                        <m:t>exp</m:t>
                      </m:r>
                      <m:d>
                        <m:dPr>
                          <m:ctrlPr>
                            <a:rPr sz="2400">
                              <a:latin typeface="Cambria Math"/>
                            </a:rPr>
                          </m:ctrlPr>
                        </m:dPr>
                        <m:e>
                          <m:r>
                            <a:rPr sz="2400">
                              <a:latin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sz="240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sz="2400">
                                  <a:latin typeface="Cambria Math"/>
                                </a:rPr>
                                <m:t>𝑖</m:t>
                              </m:r>
                              <m:r>
                                <a:rPr sz="2400">
                                  <a:latin typeface="Cambria Math"/>
                                </a:rPr>
                                <m:t> : </m:t>
                              </m:r>
                              <m:r>
                                <a:rPr sz="2400">
                                  <a:latin typeface="Cambria Math"/>
                                </a:rPr>
                                <m:t>𝑥</m:t>
                              </m:r>
                              <m:r>
                                <a:rPr sz="2400">
                                  <a:latin typeface="Cambria Math"/>
                                </a:rPr>
                                <m:t>⊨</m:t>
                              </m:r>
                              <m:sSub>
                                <m:sSubPr>
                                  <m:ctrlPr>
                                    <a:rPr sz="240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sz="2400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sz="240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>
                              <m:r>
                                <a:rPr sz="2400"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sz="240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sz="2400"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sz="240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" name="Equation"/>
              <p:cNvSpPr txBox="1"/>
              <p:nvPr/>
            </p:nvSpPr>
            <p:spPr>
              <a:xfrm>
                <a:off x="731520" y="2560320"/>
                <a:ext cx="10698480" cy="9144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2400"/>
                  <a:t>P(x) \propto \exp\Big(-\sum_{i \,:\, x \models f_i} w_i\Big)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4" name="Equation"/>
              <p:cNvSpPr txBox="1"/>
              <p:nvPr/>
            </p:nvSpPr>
            <p:spPr>
              <a:xfrm>
                <a:off x="731520" y="5303520"/>
                <a:ext cx="10698480" cy="1005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400">
                          <a:latin typeface="Cambria Math"/>
                        </a:rPr>
                        <m:t>𝑃</m:t>
                      </m:r>
                      <m: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𝑔</m:t>
                      </m:r>
                      <m:r>
                        <a:rPr sz="2400">
                          <a:latin typeface="Cambria Math"/>
                        </a:rPr>
                        <m:t>∣</m:t>
                      </m:r>
                      <m:r>
                        <a:rPr sz="2400">
                          <a:latin typeface="Cambria Math"/>
                        </a:rPr>
                        <m:t>𝑂</m:t>
                      </m:r>
                      <m:r>
                        <a:rPr sz="2400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sz="240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WMC</m:t>
                          </m:r>
                          <m:r>
                            <a:rPr sz="2400">
                              <a:latin typeface="Cambria Math"/>
                            </a:rPr>
                            <m:t>(</m:t>
                          </m:r>
                          <m:r>
                            <a:rPr sz="2400">
                              <a:latin typeface="Cambria Math"/>
                            </a:rPr>
                            <m:t>𝑇</m:t>
                          </m:r>
                          <m:r>
                            <a:rPr sz="2400">
                              <a:latin typeface="Cambria Math"/>
                            </a:rPr>
                            <m:t>∧</m:t>
                          </m:r>
                          <m:r>
                            <a:rPr sz="2400">
                              <a:latin typeface="Cambria Math"/>
                            </a:rPr>
                            <m:t>𝑂</m:t>
                          </m:r>
                          <m:r>
                            <a:rPr sz="2400">
                              <a:latin typeface="Cambria Math"/>
                            </a:rPr>
                            <m:t>∧</m:t>
                          </m:r>
                          <m:r>
                            <a:rPr sz="2400">
                              <a:latin typeface="Cambria Math"/>
                            </a:rPr>
                            <m:t>𝑔</m:t>
                          </m:r>
                          <m:r>
                            <a:rPr sz="240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2400">
                              <a:latin typeface="Cambria Math"/>
                            </a:rPr>
                            <m:t>WMC</m:t>
                          </m:r>
                          <m:r>
                            <a:rPr sz="2400">
                              <a:latin typeface="Cambria Math"/>
                            </a:rPr>
                            <m:t>(</m:t>
                          </m:r>
                          <m:r>
                            <a:rPr sz="2400">
                              <a:latin typeface="Cambria Math"/>
                            </a:rPr>
                            <m:t>𝑇</m:t>
                          </m:r>
                          <m:r>
                            <a:rPr sz="2400">
                              <a:latin typeface="Cambria Math"/>
                            </a:rPr>
                            <m:t>∧</m:t>
                          </m:r>
                          <m:r>
                            <a:rPr sz="2400">
                              <a:latin typeface="Cambria Math"/>
                            </a:rPr>
                            <m:t>𝑂</m:t>
                          </m:r>
                          <m:r>
                            <a:rPr sz="240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04" name="Equation"/>
              <p:cNvSpPr txBox="1"/>
              <p:nvPr/>
            </p:nvSpPr>
            <p:spPr>
              <a:xfrm>
                <a:off x="731520" y="5303520"/>
                <a:ext cx="10698480" cy="1005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2400"/>
                  <a:t>P(g \mid O) = \frac{\mathrm{WMC}(T \wedge O \wedge g)}{\mathrm{WMC}(T \wedge O)}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10698480" cy="49377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800" b="1"/>
              <a:t>Exact: SharpSAT-TD</a:t>
            </a:r>
          </a:p>
          <a:p>
            <a:pPr lvl="1">
              <a:spcBef>
                <a:spcPts val="200"/>
              </a:spcBef>
            </a:pPr>
            <a:r>
              <a:rPr sz="2400"/>
              <a:t>DPLL search with component caching, guided by a tree decomposition</a:t>
            </a:r>
          </a:p>
          <a:p>
            <a:pPr lvl="1">
              <a:spcBef>
                <a:spcPts val="200"/>
              </a:spcBef>
            </a:pPr>
            <a:r>
              <a:rPr sz="2400"/>
              <a:t>exact answers; #P-hard in general</a:t>
            </a:r>
          </a:p>
          <a:p>
            <a:pPr>
              <a:spcBef>
                <a:spcPts val="600"/>
              </a:spcBef>
            </a:pPr>
            <a:r>
              <a:rPr sz="2800" b="1"/>
              <a:t>Approximate: Monte Carlo (MC-SAT)</a:t>
            </a:r>
          </a:p>
          <a:p>
            <a:pPr lvl="1">
              <a:spcBef>
                <a:spcPts val="200"/>
              </a:spcBef>
            </a:pPr>
            <a:r>
              <a:rPr sz="2400"/>
              <a:t>Markov chain whose steps sample satisfying assignments with a SAT-based sampler</a:t>
            </a:r>
          </a:p>
          <a:p>
            <a:pPr lvl="1">
              <a:spcBef>
                <a:spcPts val="200"/>
              </a:spcBef>
            </a:pPr>
            <a:r>
              <a:rPr sz="2400"/>
              <a:t>all marginals from one run; can mix slowly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Max-Model Approximation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21945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200"/>
              <a:t>Replace each sum over plans by its largest term: the cheapest plan (Ramírez &amp; Geffner 2010)</a:t>
            </a:r>
          </a:p>
          <a:p>
            <a:pPr>
              <a:spcBef>
                <a:spcPts val="600"/>
              </a:spcBef>
            </a:pPr>
            <a:r>
              <a:rPr sz="2200"/>
              <a:t>For each goal </a:t>
            </a:r>
            <a:r>
              <a:rPr sz="2200" i="1"/>
              <a:t>g</a:t>
            </a:r>
            <a:r>
              <a:rPr sz="2200"/>
              <a:t>, two MaxSAT calls:</a:t>
            </a:r>
          </a:p>
          <a:p>
            <a:pPr lvl="1">
              <a:spcBef>
                <a:spcPts val="200"/>
              </a:spcBef>
            </a:pPr>
            <a:r>
              <a:rPr sz="1800"/>
              <a:t>c(g, O): cheapest plan to </a:t>
            </a:r>
            <a:r>
              <a:rPr sz="1800" i="1"/>
              <a:t>g</a:t>
            </a:r>
            <a:r>
              <a:rPr sz="1800"/>
              <a:t> consistent with the observations</a:t>
            </a:r>
          </a:p>
          <a:p>
            <a:pPr lvl="1">
              <a:spcBef>
                <a:spcPts val="200"/>
              </a:spcBef>
            </a:pPr>
            <a:r>
              <a:rPr sz="1800"/>
              <a:t>c(g, ¬O): cheapest plan to </a:t>
            </a:r>
            <a:r>
              <a:rPr sz="1800" i="1"/>
              <a:t>g</a:t>
            </a:r>
            <a:r>
              <a:rPr sz="1800"/>
              <a:t> that is not</a:t>
            </a:r>
          </a:p>
        </p:txBody>
      </p:sp>
      <p:sp>
        <p:nvSpPr>
          <p:cNvPr id="903" name="Body 3"/>
          <p:cNvSpPr>
            <a:spLocks noGrp="1"/>
          </p:cNvSpPr>
          <p:nvPr>
            <p:ph idx="1"/>
          </p:nvPr>
        </p:nvSpPr>
        <p:spPr>
          <a:xfrm>
            <a:off x="731520" y="4572000"/>
            <a:ext cx="10698480" cy="146304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200"/>
              <a:t>No counting, only optimization: 2</a:t>
            </a:r>
            <a:r>
              <a:rPr sz="2200" i="1"/>
              <a:t>n</a:t>
            </a:r>
            <a:r>
              <a:rPr sz="2200"/>
              <a:t> MaxSAT calls for </a:t>
            </a:r>
            <a:r>
              <a:rPr sz="2200" i="1"/>
              <a:t>n</a:t>
            </a:r>
            <a:r>
              <a:rPr sz="2200"/>
              <a:t> goals</a:t>
            </a:r>
          </a:p>
          <a:p>
            <a:pPr>
              <a:spcBef>
                <a:spcPts val="600"/>
              </a:spcBef>
            </a:pPr>
            <a:r>
              <a:rPr sz="2200"/>
              <a:t>Ignores </a:t>
            </a:r>
            <a:r>
              <a:rPr sz="2200" i="1"/>
              <a:t>how many</a:t>
            </a:r>
            <a:r>
              <a:rPr sz="2200"/>
              <a:t> plans there are, so goals with equally cheap plans tie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"/>
              <p:cNvSpPr txBox="1"/>
              <p:nvPr/>
            </p:nvSpPr>
            <p:spPr>
              <a:xfrm>
                <a:off x="731520" y="3657600"/>
                <a:ext cx="10698480" cy="8229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sz="2400">
                          <a:latin typeface="Cambria Math"/>
                        </a:rPr>
                        <m:t>𝑃</m:t>
                      </m:r>
                      <m:r>
                        <a:rPr sz="2400">
                          <a:latin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</a:rPr>
                        <m:t>𝑔</m:t>
                      </m:r>
                      <m:r>
                        <a:rPr sz="2400">
                          <a:latin typeface="Cambria Math"/>
                        </a:rPr>
                        <m:t>∣</m:t>
                      </m:r>
                      <m:r>
                        <a:rPr sz="2400">
                          <a:latin typeface="Cambria Math"/>
                        </a:rPr>
                        <m:t>𝑂</m:t>
                      </m:r>
                      <m:r>
                        <a:rPr sz="2400">
                          <a:latin typeface="Cambria Math"/>
                        </a:rPr>
                        <m:t>)∝</m:t>
                      </m:r>
                      <m:r>
                        <a:rPr sz="2400">
                          <a:latin typeface="Cambria Math"/>
                        </a:rPr>
                        <m:t>𝜎</m:t>
                      </m:r>
                      <m:d>
                        <m:dPr>
                          <m:ctrlPr>
                            <a:rPr sz="2400">
                              <a:latin typeface="Cambria Math"/>
                            </a:rPr>
                          </m:ctrlPr>
                        </m:dPr>
                        <m:e>
                          <m:r>
                            <a:rPr sz="2400">
                              <a:latin typeface="Cambria Math"/>
                            </a:rPr>
                            <m:t>𝛽</m:t>
                          </m:r>
                          <m:r>
                            <a:rPr sz="2400">
                              <a:latin typeface="Cambria Math"/>
                            </a:rPr>
                            <m:t> (</m:t>
                          </m:r>
                          <m:r>
                            <a:rPr sz="2400">
                              <a:latin typeface="Cambria Math"/>
                            </a:rPr>
                            <m:t>𝑐</m:t>
                          </m:r>
                          <m:r>
                            <a:rPr sz="2400">
                              <a:latin typeface="Cambria Math"/>
                            </a:rPr>
                            <m:t>(</m:t>
                          </m:r>
                          <m:r>
                            <a:rPr sz="2400">
                              <a:latin typeface="Cambria Math"/>
                            </a:rPr>
                            <m:t>𝑔</m:t>
                          </m:r>
                          <m:r>
                            <a:rPr sz="2400">
                              <a:latin typeface="Cambria Math"/>
                            </a:rPr>
                            <m:t>,¬</m:t>
                          </m:r>
                          <m:r>
                            <a:rPr sz="2400">
                              <a:latin typeface="Cambria Math"/>
                            </a:rPr>
                            <m:t>𝑂</m:t>
                          </m:r>
                          <m:r>
                            <a:rPr sz="2400">
                              <a:latin typeface="Cambria Math"/>
                            </a:rPr>
                            <m:t>)−</m:t>
                          </m:r>
                          <m:r>
                            <a:rPr sz="2400">
                              <a:latin typeface="Cambria Math"/>
                            </a:rPr>
                            <m:t>𝑐</m:t>
                          </m:r>
                          <m:r>
                            <a:rPr sz="2400">
                              <a:latin typeface="Cambria Math"/>
                            </a:rPr>
                            <m:t>(</m:t>
                          </m:r>
                          <m:r>
                            <a:rPr sz="2400">
                              <a:latin typeface="Cambria Math"/>
                            </a:rPr>
                            <m:t>𝑔</m:t>
                          </m:r>
                          <m:r>
                            <a:rPr sz="2400">
                              <a:latin typeface="Cambria Math"/>
                            </a:rPr>
                            <m:t>,</m:t>
                          </m:r>
                          <m:r>
                            <a:rPr sz="2400">
                              <a:latin typeface="Cambria Math"/>
                            </a:rPr>
                            <m:t>𝑂</m:t>
                          </m:r>
                          <m:r>
                            <a:rPr sz="2400">
                              <a:latin typeface="Cambria Math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" name="Equation"/>
              <p:cNvSpPr txBox="1"/>
              <p:nvPr/>
            </p:nvSpPr>
            <p:spPr>
              <a:xfrm>
                <a:off x="731520" y="3657600"/>
                <a:ext cx="10698480" cy="82296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2400"/>
                  <a:t>P(g \mid O) \propto \sigma\big(\beta\,(c(g,\neg O) - c(g, O))\big)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on Simple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904" name="Body 4"/>
          <p:cNvSpPr>
            <a:spLocks noGrp="1"/>
          </p:cNvSpPr>
          <p:nvPr>
            <p:ph idx="1"/>
          </p:nvPr>
        </p:nvSpPr>
        <p:spPr>
          <a:xfrm>
            <a:off x="731520" y="4800600"/>
            <a:ext cx="10698480" cy="17373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1800" dirty="0"/>
              <a:t>P = mean probability given to the true goal (chance = 1 / goals); time = mean per run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205194"/>
              </p:ext>
            </p:extLst>
          </p:nvPr>
        </p:nvGraphicFramePr>
        <p:xfrm>
          <a:off x="731520" y="1371600"/>
          <a:ext cx="10607040" cy="3400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Grid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Goals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CNF vars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Max-term
P /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SharpSAT-TD
P /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MC-SAT
P /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3×3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0.50 / 12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0.50 / 16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0.51 / 14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4×4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0.33 / 16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0.37 / 20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0.36 / 33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5×5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812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0.26 / 35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0.27 / 35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0.25 / 210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6×6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1,557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0.20 / 30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0.21 / 38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0.19 / 349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7×7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2,436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0.18 / 40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0.20 / 105 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0.19 / 737 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8×8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4,024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0.15 / 61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none finished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/>
                        <a:t>none finished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Compilation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698480" cy="109728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sz="2200"/>
              <a:t>Compile the problem once to a d-DNNF circuit (d4), with no evidence</a:t>
            </a:r>
          </a:p>
          <a:p>
            <a:pPr>
              <a:spcBef>
                <a:spcPts val="600"/>
              </a:spcBef>
            </a:pPr>
            <a:r>
              <a:rPr sz="2200"/>
              <a:t>Then marginals given </a:t>
            </a:r>
            <a:r>
              <a:rPr sz="2200" i="1"/>
              <a:t>any</a:t>
            </a:r>
            <a:r>
              <a:rPr sz="2200"/>
              <a:t> observed moves come from one pass over the circuit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56032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Grid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CNF vars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Compile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Circuit nodes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Query, 2 obs.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3×3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0.04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0.001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5×5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812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0.09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1,108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0.007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6×6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1,557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1.4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21,140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0.017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7×7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2,436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6.8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82,748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0.035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8×8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14.75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4,024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104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785,660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0.24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1600"/>
                        <a:t>9×9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5,616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418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2,525,681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/>
                        <a:t>0.45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10×10 did not compile within 20 minutes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Problem Archive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463040"/>
            <a:ext cx="10698480" cy="4937760"/>
          </a:xfrm>
        </p:spPr>
        <p:txBody>
          <a:bodyPr wrap="square"/>
          <a:lstStyle/>
          <a:p>
            <a:pPr>
              <a:spcBef>
                <a:spcPts val="600"/>
              </a:spcBef>
            </a:pPr>
            <a:r>
              <a:rPr lang="en-US" sz="2800" b="1" dirty="0"/>
              <a:t>Benchmarks</a:t>
            </a:r>
            <a:r>
              <a:rPr sz="2800" b="1" dirty="0"/>
              <a:t>:</a:t>
            </a:r>
            <a:r>
              <a:rPr sz="2800" dirty="0"/>
              <a:t> </a:t>
            </a:r>
            <a:r>
              <a:rPr sz="2800" dirty="0" err="1"/>
              <a:t>github.com</a:t>
            </a:r>
            <a:r>
              <a:rPr sz="2800" dirty="0"/>
              <a:t>/</a:t>
            </a:r>
            <a:r>
              <a:rPr sz="2800" dirty="0" err="1"/>
              <a:t>HenryKautz</a:t>
            </a:r>
            <a:r>
              <a:rPr sz="2800" dirty="0"/>
              <a:t>/CLARA</a:t>
            </a:r>
            <a:endParaRPr lang="en-US" sz="2800" dirty="0"/>
          </a:p>
          <a:p>
            <a:pPr>
              <a:spcBef>
                <a:spcPts val="600"/>
              </a:spcBef>
            </a:pPr>
            <a:r>
              <a:rPr lang="en-US" sz="2800" b="1" dirty="0"/>
              <a:t>Tools</a:t>
            </a:r>
            <a:r>
              <a:rPr lang="en-US" sz="2800" dirty="0"/>
              <a:t>: </a:t>
            </a:r>
            <a:r>
              <a:rPr lang="en-US" sz="2800" dirty="0" err="1"/>
              <a:t>github</a:t>
            </a:r>
            <a:r>
              <a:rPr sz="2400" dirty="0" err="1"/>
              <a:t>.com</a:t>
            </a:r>
            <a:r>
              <a:rPr sz="2400" dirty="0"/>
              <a:t>/</a:t>
            </a:r>
            <a:r>
              <a:rPr sz="2400" dirty="0" err="1"/>
              <a:t>HenryKautz</a:t>
            </a:r>
            <a:r>
              <a:rPr sz="2400" dirty="0"/>
              <a:t>/</a:t>
            </a:r>
            <a:r>
              <a:rPr sz="2400" dirty="0" err="1"/>
              <a:t>FiFO</a:t>
            </a:r>
            <a:endParaRPr sz="2400" dirty="0"/>
          </a:p>
          <a:p>
            <a:pPr>
              <a:spcBef>
                <a:spcPts val="600"/>
              </a:spcBef>
            </a:pPr>
            <a:r>
              <a:rPr sz="2800" b="1" dirty="0"/>
              <a:t>Current work:</a:t>
            </a:r>
            <a:r>
              <a:rPr sz="2800" dirty="0"/>
              <a:t> harder problems with multiple packages and destinations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836</Words>
  <Application>Microsoft Macintosh PowerPoint</Application>
  <PresentationFormat>Widescreen</PresentationFormat>
  <Paragraphs>161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CLARA Monthly Tagup</vt:lpstr>
      <vt:lpstr>Planning and Plan Recognition</vt:lpstr>
      <vt:lpstr>Domain: Logistics</vt:lpstr>
      <vt:lpstr>From Planning to Plan Recognition</vt:lpstr>
      <vt:lpstr>Example</vt:lpstr>
      <vt:lpstr>Baseline: Translation to FiFO</vt:lpstr>
      <vt:lpstr>Model Counting</vt:lpstr>
      <vt:lpstr>Max-Model Approximation</vt:lpstr>
      <vt:lpstr>Results on Simple Grids</vt:lpstr>
      <vt:lpstr>Knowledge Compilation</vt:lpstr>
      <vt:lpstr>Test Problem Archive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Kautz, Henry Alexander (rmw7my)</cp:lastModifiedBy>
  <cp:revision>2</cp:revision>
  <dcterms:created xsi:type="dcterms:W3CDTF">2013-01-27T09:14:16Z</dcterms:created>
  <dcterms:modified xsi:type="dcterms:W3CDTF">2026-10-18T19:00:07Z</dcterms:modified>
  <cp:category/>
</cp:coreProperties>
</file>