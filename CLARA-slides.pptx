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09584" y="6356350"/>
            <a:ext cx="2844728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65495" y="6356350"/>
            <a:ext cx="386070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381" y="6356350"/>
            <a:ext cx="284472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584" y="1600200"/>
            <a:ext cx="10972525" cy="4525963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09584" y="6356350"/>
            <a:ext cx="2844728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65495" y="6356350"/>
            <a:ext cx="386070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381" y="6356350"/>
            <a:ext cx="284472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09584" y="6356350"/>
            <a:ext cx="2844728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65495" y="6356350"/>
            <a:ext cx="386070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381" y="6356350"/>
            <a:ext cx="284472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5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09584" y="6356350"/>
            <a:ext cx="2844728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165495" y="6356350"/>
            <a:ext cx="386070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737381" y="6356350"/>
            <a:ext cx="284472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09584" y="6356350"/>
            <a:ext cx="2844728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4165495" y="6356350"/>
            <a:ext cx="386070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8737381" y="6356350"/>
            <a:ext cx="284472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09584" y="6356350"/>
            <a:ext cx="2844728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165495" y="6356350"/>
            <a:ext cx="386070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8737381" y="6356350"/>
            <a:ext cx="284472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09584" y="6356350"/>
            <a:ext cx="2844728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4165495" y="6356350"/>
            <a:ext cx="386070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737381" y="6356350"/>
            <a:ext cx="284472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09584" y="6356350"/>
            <a:ext cx="2844728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165495" y="6356350"/>
            <a:ext cx="386070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737381" y="6356350"/>
            <a:ext cx="284472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7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7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7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09584" y="6356350"/>
            <a:ext cx="2844728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165495" y="6356350"/>
            <a:ext cx="386070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737381" y="6356350"/>
            <a:ext cx="284472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1600200"/>
            <a:ext cx="10972525" cy="4525963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09584" y="6356350"/>
            <a:ext cx="2844728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65495" y="6356350"/>
            <a:ext cx="386070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381" y="6356350"/>
            <a:ext cx="284472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9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09584" y="6356350"/>
            <a:ext cx="2844728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65495" y="6356350"/>
            <a:ext cx="386070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381" y="6356350"/>
            <a:ext cx="284472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CLARA Monthly Tagup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/>
              <a:t>October 20, 2026</a:t>
            </a:r>
          </a:p>
          <a:p/>
          <a:p>
            <a:r>
              <a:rPr sz="2000"/>
              <a:t>Henry Kautz, University of Virginia</a:t>
            </a:r>
          </a:p>
          <a:p>
            <a:r>
              <a:rPr sz="2000"/>
              <a:t>Steven Holtzen, Northeastern University</a:t>
            </a:r>
          </a:p>
          <a:p>
            <a:r>
              <a:rPr sz="2000"/>
              <a:t>Zhe Zeng, University of Virginia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Planning and Plan Recognition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1520" y="1463040"/>
            <a:ext cx="10698480" cy="4937760"/>
          </a:xfrm>
        </p:spPr>
        <p:txBody>
          <a:bodyPr wrap="square"/>
          <a:lstStyle/>
          <a:p>
            <a:pPr>
              <a:spcBef>
                <a:spcPts val="600"/>
              </a:spcBef>
            </a:pPr>
            <a:r>
              <a:rPr b="1" sz="2800"/>
              <a:t>Planning:</a:t>
            </a:r>
            <a:r>
              <a:rPr sz="2800"/>
              <a:t> from an initial state, find actions that achieve a goal</a:t>
            </a:r>
          </a:p>
          <a:p>
            <a:pPr>
              <a:spcBef>
                <a:spcPts val="600"/>
              </a:spcBef>
            </a:pPr>
            <a:r>
              <a:rPr b="1" sz="2800"/>
              <a:t>PDDL:</a:t>
            </a:r>
            <a:r>
              <a:rPr sz="2800"/>
              <a:t> standard language for planning domains and problems</a:t>
            </a:r>
          </a:p>
          <a:p>
            <a:pPr lvl="1">
              <a:spcBef>
                <a:spcPts val="200"/>
              </a:spcBef>
            </a:pPr>
            <a:r>
              <a:rPr sz="2400"/>
              <a:t>objects, predicates, actions with preconditions and effects</a:t>
            </a:r>
          </a:p>
          <a:p>
            <a:pPr>
              <a:spcBef>
                <a:spcPts val="600"/>
              </a:spcBef>
            </a:pPr>
            <a:r>
              <a:rPr b="1" sz="2800"/>
              <a:t>Action costs, goal utilities:</a:t>
            </a:r>
            <a:r>
              <a:rPr sz="2800"/>
              <a:t> a plan's value is the utility of the goals it reaches minus the cost of its actions</a:t>
            </a:r>
          </a:p>
          <a:p>
            <a:pPr>
              <a:spcBef>
                <a:spcPts val="600"/>
              </a:spcBef>
            </a:pPr>
            <a:r>
              <a:rPr b="1" sz="2800"/>
              <a:t>Disjunctive goals:</a:t>
            </a:r>
            <a:r>
              <a:rPr sz="2800"/>
              <a:t> the agent pursues </a:t>
            </a:r>
            <a:r>
              <a:rPr i="1" sz="2800"/>
              <a:t>one</a:t>
            </a:r>
            <a:r>
              <a:rPr sz="2800"/>
              <a:t> of several possible goals</a:t>
            </a:r>
          </a:p>
          <a:p>
            <a:pPr>
              <a:spcBef>
                <a:spcPts val="600"/>
              </a:spcBef>
            </a:pPr>
            <a:r>
              <a:rPr b="1" sz="2800"/>
              <a:t>Plan recognition</a:t>
            </a:r>
            <a:r>
              <a:rPr sz="2800"/>
              <a:t> runs planning in reverse: observe some actions, infer which goal the agent is pursuing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Domain: Logistics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1520" y="1463040"/>
            <a:ext cx="10698480" cy="4937760"/>
          </a:xfrm>
        </p:spPr>
        <p:txBody>
          <a:bodyPr wrap="square"/>
          <a:lstStyle/>
          <a:p>
            <a:pPr>
              <a:spcBef>
                <a:spcPts val="600"/>
              </a:spcBef>
            </a:pPr>
            <a:r>
              <a:rPr sz="2800"/>
              <a:t>Packages, trucks, and airplanes</a:t>
            </a:r>
          </a:p>
          <a:p>
            <a:pPr lvl="1">
              <a:spcBef>
                <a:spcPts val="200"/>
              </a:spcBef>
            </a:pPr>
            <a:r>
              <a:rPr sz="2400"/>
              <a:t>trucks drive between places on roads</a:t>
            </a:r>
          </a:p>
          <a:p>
            <a:pPr lvl="1">
              <a:spcBef>
                <a:spcPts val="200"/>
              </a:spcBef>
            </a:pPr>
            <a:r>
              <a:rPr sz="2400"/>
              <a:t>airplanes fly between airports</a:t>
            </a:r>
          </a:p>
          <a:p>
            <a:pPr lvl="1">
              <a:spcBef>
                <a:spcPts val="200"/>
              </a:spcBef>
            </a:pPr>
            <a:r>
              <a:rPr sz="2400"/>
              <a:t>packages are loaded, unloaded, and transferred between vehicles</a:t>
            </a:r>
          </a:p>
          <a:p>
            <a:pPr>
              <a:spcBef>
                <a:spcPts val="600"/>
              </a:spcBef>
            </a:pPr>
            <a:r>
              <a:rPr sz="2800"/>
              <a:t>Driving and flying have costs; loading is free</a:t>
            </a:r>
          </a:p>
          <a:p>
            <a:pPr>
              <a:spcBef>
                <a:spcPts val="600"/>
              </a:spcBef>
            </a:pPr>
            <a:r>
              <a:rPr sz="2800"/>
              <a:t>Finding a minimum-cost plan is NP-complete</a:t>
            </a:r>
          </a:p>
          <a:p>
            <a:pPr lvl="1">
              <a:spcBef>
                <a:spcPts val="200"/>
              </a:spcBef>
            </a:pPr>
            <a:r>
              <a:rPr sz="2400"/>
              <a:t>one truck delivering packages to </a:t>
            </a:r>
            <a:r>
              <a:rPr i="1" sz="2400"/>
              <a:t>n</a:t>
            </a:r>
            <a:r>
              <a:rPr sz="2400"/>
              <a:t> cities, with a cost on each road, is the traveling salesman problem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From Planning to Plan Recognition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1520" y="1371600"/>
            <a:ext cx="10698480" cy="1463040"/>
          </a:xfrm>
        </p:spPr>
        <p:txBody>
          <a:bodyPr wrap="square"/>
          <a:lstStyle/>
          <a:p>
            <a:pPr>
              <a:spcBef>
                <a:spcPts val="600"/>
              </a:spcBef>
            </a:pPr>
            <a:r>
              <a:rPr sz="2200"/>
              <a:t>How do we get a probability distribution from a planning problem plus evidence?</a:t>
            </a:r>
          </a:p>
          <a:p>
            <a:pPr>
              <a:spcBef>
                <a:spcPts val="600"/>
              </a:spcBef>
            </a:pPr>
            <a:r>
              <a:rPr sz="2200"/>
              <a:t>Treat every plan τ up to horizon </a:t>
            </a:r>
            <a:r>
              <a:rPr i="1" sz="2200"/>
              <a:t>H</a:t>
            </a:r>
            <a:r>
              <a:rPr sz="2200"/>
              <a:t> as possible, with probability exponential in its net utility:</a:t>
            </a:r>
          </a:p>
        </p:txBody>
      </p:sp>
      <p:sp>
        <p:nvSpPr>
          <p:cNvPr id="903" name="Body 3"/>
          <p:cNvSpPr>
            <a:spLocks noGrp="1"/>
          </p:cNvSpPr>
          <p:nvPr>
            <p:ph idx="1"/>
          </p:nvPr>
        </p:nvSpPr>
        <p:spPr>
          <a:xfrm>
            <a:off x="731520" y="4023360"/>
            <a:ext cx="10698480" cy="548640"/>
          </a:xfrm>
        </p:spPr>
        <p:txBody>
          <a:bodyPr wrap="square"/>
          <a:lstStyle/>
          <a:p>
            <a:pPr>
              <a:spcBef>
                <a:spcPts val="600"/>
              </a:spcBef>
            </a:pPr>
            <a:r>
              <a:rPr sz="2200"/>
              <a:t>Probability of goal </a:t>
            </a:r>
            <a:r>
              <a:rPr i="1" sz="2200"/>
              <a:t>g</a:t>
            </a:r>
            <a:r>
              <a:rPr sz="2200"/>
              <a:t> given observations </a:t>
            </a:r>
            <a:r>
              <a:rPr i="1" sz="2200"/>
              <a:t>O</a:t>
            </a:r>
            <a:r>
              <a:rPr sz="2200"/>
              <a:t>  (τ ⊨ O ∧ g: plan τ fits </a:t>
            </a:r>
            <a:r>
              <a:rPr i="1" sz="2200"/>
              <a:t>O</a:t>
            </a:r>
            <a:r>
              <a:rPr sz="2200"/>
              <a:t> and reaches </a:t>
            </a:r>
            <a:r>
              <a:rPr i="1" sz="2200"/>
              <a:t>g</a:t>
            </a:r>
            <a:r>
              <a:rPr sz="2200"/>
              <a:t>):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Equation"/>
              <p:cNvSpPr txBox="1"/>
              <p:nvPr/>
            </p:nvSpPr>
            <p:spPr>
              <a:xfrm>
                <a:off x="731520" y="2834640"/>
                <a:ext cx="10698480" cy="109728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sz="2400">
                          <a:latin typeface="Cambria Math"/>
                        </a:rPr>
                        <m:t>P</m:t>
                      </m:r>
                      <m:r>
                        <m:rPr>
                          <m:sty m:val="p"/>
                        </m:rPr>
                        <a:rPr sz="2400">
                          <a:latin typeface="Cambria Math"/>
                        </a:rPr>
                        <m:t>(</m:t>
                      </m:r>
                      <m:r>
                        <a:rPr sz="2400">
                          <a:latin typeface="Cambria Math"/>
                        </a:rPr>
                        <m:t>τ</m:t>
                      </m:r>
                      <m:r>
                        <m:rPr>
                          <m:sty m:val="p"/>
                        </m:rPr>
                        <a:rPr sz="2400">
                          <a:latin typeface="Cambria Math"/>
                        </a:rPr>
                        <m:t>)</m:t>
                      </m:r>
                      <m:r>
                        <m:rPr>
                          <m:sty m:val="p"/>
                        </m:rPr>
                        <a:rPr sz="2400">
                          <a:latin typeface="Cambria Math"/>
                        </a:rPr>
                        <m:t>=</m:t>
                      </m:r>
                      <m:f>
                        <m:fPr>
                          <m:type m:val="bar"/>
                        </m:fPr>
                        <m:num>
                          <m:sSup>
                            <m:e>
                              <m:r>
                                <a:rPr sz="2400">
                                  <a:latin typeface="Cambria Math"/>
                                </a:rPr>
                                <m:t>e</m:t>
                              </m:r>
                            </m:e>
                            <m:sup>
                              <m:r>
                                <a:rPr sz="2400">
                                  <a:latin typeface="Cambria Math"/>
                                </a:rPr>
                                <m:t>U</m:t>
                              </m:r>
                              <m:r>
                                <m:rPr>
                                  <m:sty m:val="p"/>
                                </m:rPr>
                                <a:rPr sz="2400">
                                  <a:latin typeface="Cambria Math"/>
                                </a:rPr>
                                <m:t>(</m:t>
                              </m:r>
                              <m:r>
                                <a:rPr sz="2400">
                                  <a:latin typeface="Cambria Math"/>
                                </a:rPr>
                                <m:t>τ</m:t>
                              </m:r>
                              <m:r>
                                <m:rPr>
                                  <m:sty m:val="p"/>
                                </m:rPr>
                                <a:rPr sz="2400">
                                  <a:latin typeface="Cambria Math"/>
                                </a:rPr>
                                <m:t>)</m:t>
                              </m:r>
                            </m:sup>
                          </m:sSup>
                        </m:num>
                        <m:den>
                          <m:r>
                            <a:rPr sz="2400">
                              <a:latin typeface="Cambria Math"/>
                            </a:rPr>
                            <m:t>Z</m:t>
                          </m:r>
                        </m:den>
                      </m:f>
                      <m:r>
                        <m:rPr>
                          <m:sty m:val="p"/>
                        </m:rPr>
                        <a:rPr sz="2400">
                          <a:latin typeface="Cambria Math"/>
                        </a:rPr>
                        <m:t>,</m:t>
                      </m:r>
                      <m:r>
                        <a:rPr sz="2400">
                          <a:latin typeface="Cambria Math"/>
                        </a:rPr>
                        <m:t>  </m:t>
                      </m:r>
                      <m:r>
                        <a:rPr sz="2400">
                          <a:latin typeface="Cambria Math"/>
                        </a:rPr>
                        <m:t>U</m:t>
                      </m:r>
                      <m:r>
                        <m:rPr>
                          <m:sty m:val="p"/>
                        </m:rPr>
                        <a:rPr sz="2400">
                          <a:latin typeface="Cambria Math"/>
                        </a:rPr>
                        <m:t>(</m:t>
                      </m:r>
                      <m:r>
                        <a:rPr sz="2400">
                          <a:latin typeface="Cambria Math"/>
                        </a:rPr>
                        <m:t>τ</m:t>
                      </m:r>
                      <m:r>
                        <m:rPr>
                          <m:sty m:val="p"/>
                        </m:rPr>
                        <a:rPr sz="2400">
                          <a:latin typeface="Cambria Math"/>
                        </a:rPr>
                        <m:t>)</m:t>
                      </m:r>
                      <m:r>
                        <m:rPr>
                          <m:sty m:val="p"/>
                        </m:rPr>
                        <a:rPr sz="2400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a:rPr sz="2400">
                              <a:latin typeface="Cambria Math"/>
                            </a:rPr>
                            <m:t>g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∈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g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o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a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l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s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(</m:t>
                          </m:r>
                          <m:r>
                            <a:rPr sz="2400">
                              <a:latin typeface="Cambria Math"/>
                            </a:rPr>
                            <m:t>τ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)</m:t>
                          </m:r>
                        </m:sub>
                        <m:sup>
                          <m:r>
                            <a:rPr sz="2400">
                              <a:latin typeface="Cambria Math"/>
                            </a:rP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a:rPr sz="2400">
                                  <a:latin typeface="Cambria Math"/>
                                </a:rPr>
                                <m:t>u</m:t>
                              </m:r>
                            </m:e>
                            <m:sub>
                              <m:r>
                                <a:rPr sz="2400">
                                  <a:latin typeface="Cambria Math"/>
                                </a:rPr>
                                <m:t>g</m:t>
                              </m:r>
                            </m:sub>
                          </m:sSub>
                        </m:e>
                      </m:nary>
                      <m:r>
                        <a:rPr sz="2400">
                          <a:latin typeface="Cambria Math"/>
                        </a:rPr>
                        <m:t> </m:t>
                      </m:r>
                      <m:r>
                        <m:rPr>
                          <m:sty m:val="p"/>
                        </m:rPr>
                        <a:rPr sz="2400">
                          <a:latin typeface="Cambria Math"/>
                        </a:rPr>
                        <m:t>−</m:t>
                      </m:r>
                      <m:r>
                        <a:rPr sz="2400">
                          <a:latin typeface="Cambria Math"/>
                        </a:rPr>
                        <m:t> 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a:rPr sz="2400">
                              <a:latin typeface="Cambria Math"/>
                            </a:rPr>
                            <m:t>a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∈</m:t>
                          </m:r>
                          <m:r>
                            <a:rPr sz="2400">
                              <a:latin typeface="Cambria Math"/>
                            </a:rPr>
                            <m:t>τ</m:t>
                          </m:r>
                        </m:sub>
                        <m:sup>
                          <m:r>
                            <a:rPr sz="2400">
                              <a:latin typeface="Cambria Math"/>
                            </a:rP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a:rPr sz="2400">
                                  <a:latin typeface="Cambria Math"/>
                                </a:rPr>
                                <m:t>c</m:t>
                              </m:r>
                            </m:e>
                            <m:sub>
                              <m:r>
                                <a:rPr sz="2400">
                                  <a:latin typeface="Cambria Math"/>
                                </a:rPr>
                                <m:t>a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</p:txBody>
          </p:sp>
        </mc:Choice>
        <mc:Fallback>
          <p:sp>
            <p:nvSpPr>
              <p:cNvPr id="4" name="Equation"/>
              <p:cNvSpPr txBox="1"/>
              <p:nvPr/>
            </p:nvSpPr>
            <p:spPr>
              <a:xfrm>
                <a:off x="731520" y="2834640"/>
                <a:ext cx="10698480" cy="109728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ctr"/>
                <a:r>
                  <a:rPr sz="2400"/>
                  <a:t>P(\tau) = \frac{e^{U(\tau)}}{Z}, \qquad U(\tau) = \sum_{g \in \mathrm{goals}(\tau)} u_g \;-\; \sum_{a \in \tau} c_a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04" name="Equation"/>
              <p:cNvSpPr txBox="1"/>
              <p:nvPr/>
            </p:nvSpPr>
            <p:spPr>
              <a:xfrm>
                <a:off x="731520" y="4663440"/>
                <a:ext cx="10698480" cy="13716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sz="2400">
                          <a:latin typeface="Cambria Math"/>
                        </a:rPr>
                        <m:t>P</m:t>
                      </m:r>
                      <m:r>
                        <m:rPr>
                          <m:sty m:val="p"/>
                        </m:rPr>
                        <a:rPr sz="2400">
                          <a:latin typeface="Cambria Math"/>
                        </a:rPr>
                        <m:t>(</m:t>
                      </m:r>
                      <m:r>
                        <a:rPr sz="2400">
                          <a:latin typeface="Cambria Math"/>
                        </a:rPr>
                        <m:t>g</m:t>
                      </m:r>
                      <m:r>
                        <m:rPr>
                          <m:sty m:val="p"/>
                        </m:rPr>
                        <a:rPr sz="2400">
                          <a:latin typeface="Cambria Math"/>
                        </a:rPr>
                        <m:t>∣</m:t>
                      </m:r>
                      <m:r>
                        <a:rPr sz="2400">
                          <a:latin typeface="Cambria Math"/>
                        </a:rPr>
                        <m:t>O</m:t>
                      </m:r>
                      <m:r>
                        <m:rPr>
                          <m:sty m:val="p"/>
                        </m:rPr>
                        <a:rPr sz="2400">
                          <a:latin typeface="Cambria Math"/>
                        </a:rPr>
                        <m:t>)</m:t>
                      </m:r>
                      <m:r>
                        <m:rPr>
                          <m:sty m:val="p"/>
                        </m:rPr>
                        <a:rPr sz="2400">
                          <a:latin typeface="Cambria Math"/>
                        </a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a:rPr sz="2400">
                                  <a:latin typeface="Cambria Math"/>
                                </a:rPr>
                                <m:t>τ</m:t>
                              </m:r>
                              <m:r>
                                <m:rPr>
                                  <m:sty m:val="p"/>
                                </m:rPr>
                                <a:rPr sz="2400">
                                  <a:latin typeface="Cambria Math"/>
                                </a:rPr>
                                <m:t>⊨</m:t>
                              </m:r>
                              <m:r>
                                <a:rPr sz="2400">
                                  <a:latin typeface="Cambria Math"/>
                                </a:rPr>
                                <m:t>O</m:t>
                              </m:r>
                              <m:r>
                                <m:rPr>
                                  <m:sty m:val="p"/>
                                </m:rPr>
                                <a:rPr sz="2400">
                                  <a:latin typeface="Cambria Math"/>
                                </a:rPr>
                                <m:t>∧</m:t>
                              </m:r>
                              <m:r>
                                <a:rPr sz="2400">
                                  <a:latin typeface="Cambria Math"/>
                                </a:rPr>
                                <m:t>g</m:t>
                              </m:r>
                            </m:sub>
                            <m:sup>
                              <m:r>
                                <a:rPr sz="2400">
                                  <a:latin typeface="Cambria Math"/>
                                </a:rPr>
                                <m:t>​</m:t>
                              </m:r>
                            </m:sup>
                            <m:e>
                              <m:sSup>
                                <m:e>
                                  <m:r>
                                    <a:rPr sz="2400">
                                      <a:latin typeface="Cambria Math"/>
                                    </a:rPr>
                                    <m:t>e</m:t>
                                  </m:r>
                                </m:e>
                                <m:sup>
                                  <m:r>
                                    <a:rPr sz="2400">
                                      <a:latin typeface="Cambria Math"/>
                                    </a:rPr>
                                    <m:t>U</m:t>
                                  </m:r>
                                  <m:r>
                                    <m:rPr>
                                      <m:sty m:val="p"/>
                                    </m:rPr>
                                    <a:rPr sz="2400">
                                      <a:latin typeface="Cambria Math"/>
                                    </a:rPr>
                                    <m:t>(</m:t>
                                  </m:r>
                                  <m:r>
                                    <a:rPr sz="2400">
                                      <a:latin typeface="Cambria Math"/>
                                    </a:rPr>
                                    <m:t>τ</m:t>
                                  </m:r>
                                  <m:r>
                                    <m:rPr>
                                      <m:sty m:val="p"/>
                                    </m:rPr>
                                    <a:rPr sz="2400">
                                      <a:latin typeface="Cambria Math"/>
                                    </a:rPr>
                                    <m:t>)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a:rPr sz="2400">
                                  <a:latin typeface="Cambria Math"/>
                                </a:rPr>
                                <m:t>τ</m:t>
                              </m:r>
                              <m:r>
                                <m:rPr>
                                  <m:sty m:val="p"/>
                                </m:rPr>
                                <a:rPr sz="2400">
                                  <a:latin typeface="Cambria Math"/>
                                </a:rPr>
                                <m:t>⊨</m:t>
                              </m:r>
                              <m:r>
                                <a:rPr sz="2400">
                                  <a:latin typeface="Cambria Math"/>
                                </a:rPr>
                                <m:t>O</m:t>
                              </m:r>
                            </m:sub>
                            <m:sup>
                              <m:r>
                                <a:rPr sz="2400">
                                  <a:latin typeface="Cambria Math"/>
                                </a:rPr>
                                <m:t>​</m:t>
                              </m:r>
                            </m:sup>
                            <m:e>
                              <m:sSup>
                                <m:e>
                                  <m:r>
                                    <a:rPr sz="2400">
                                      <a:latin typeface="Cambria Math"/>
                                    </a:rPr>
                                    <m:t>e</m:t>
                                  </m:r>
                                </m:e>
                                <m:sup>
                                  <m:r>
                                    <a:rPr sz="2400">
                                      <a:latin typeface="Cambria Math"/>
                                    </a:rPr>
                                    <m:t>U</m:t>
                                  </m:r>
                                  <m:r>
                                    <m:rPr>
                                      <m:sty m:val="p"/>
                                    </m:rPr>
                                    <a:rPr sz="2400">
                                      <a:latin typeface="Cambria Math"/>
                                    </a:rPr>
                                    <m:t>(</m:t>
                                  </m:r>
                                  <m:r>
                                    <a:rPr sz="2400">
                                      <a:latin typeface="Cambria Math"/>
                                    </a:rPr>
                                    <m:t>τ</m:t>
                                  </m:r>
                                  <m:r>
                                    <m:rPr>
                                      <m:sty m:val="p"/>
                                    </m:rPr>
                                    <a:rPr sz="2400">
                                      <a:latin typeface="Cambria Math"/>
                                    </a:rPr>
                                    <m:t>)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</a:p>
            </p:txBody>
          </p:sp>
        </mc:Choice>
        <mc:Fallback>
          <p:sp>
            <p:nvSpPr>
              <p:cNvPr id="904" name="Equation"/>
              <p:cNvSpPr txBox="1"/>
              <p:nvPr/>
            </p:nvSpPr>
            <p:spPr>
              <a:xfrm>
                <a:off x="731520" y="4663440"/>
                <a:ext cx="10698480" cy="13716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ctr"/>
                <a:r>
                  <a:rPr sz="2400"/>
                  <a:t>P(g \mid O) = \frac{\sum_{\tau \models O \wedge g} e^{U(\tau)}}{\sum_{\tau \models O} e^{U(\tau)}}</a:t>
                </a:r>
              </a:p>
            </p:txBody>
          </p:sp>
        </mc:Fallback>
      </mc:AlternateContent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Example</a:t>
            </a:r>
          </a:p>
        </p:txBody>
      </p:sp>
      <p:sp>
        <p:nvSpPr>
          <p:cNvPr id="4" name="Cell 1"/>
          <p:cNvSpPr/>
          <p:nvPr/>
        </p:nvSpPr>
        <p:spPr>
          <a:xfrm>
            <a:off x="2011680" y="1463040"/>
            <a:ext cx="1920240" cy="822960"/>
          </a:xfrm>
          <a:prstGeom prst="rect">
            <a:avLst/>
          </a:prstGeom>
          <a:solidFill>
            <a:srgbClr val="DDE8F5"/>
          </a:solidFill>
          <a:ln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>
                <a:solidFill>
                  <a:srgbClr val="000000"/>
                </a:solidFill>
              </a:rPr>
              <a:t>g1</a:t>
            </a:r>
          </a:p>
        </p:txBody>
      </p:sp>
      <p:sp>
        <p:nvSpPr>
          <p:cNvPr id="5" name="Cell 2"/>
          <p:cNvSpPr/>
          <p:nvPr/>
        </p:nvSpPr>
        <p:spPr>
          <a:xfrm>
            <a:off x="4114800" y="1463040"/>
            <a:ext cx="1920240" cy="822960"/>
          </a:xfrm>
          <a:prstGeom prst="rect">
            <a:avLst/>
          </a:prstGeom>
          <a:solidFill>
            <a:srgbClr val="FFFFFF"/>
          </a:solidFill>
          <a:ln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>
                <a:solidFill>
                  <a:srgbClr val="000000"/>
                </a:solidFill>
              </a:rPr>
              <a:t>start</a:t>
            </a:r>
          </a:p>
        </p:txBody>
      </p:sp>
      <p:sp>
        <p:nvSpPr>
          <p:cNvPr id="6" name="Cell 3"/>
          <p:cNvSpPr/>
          <p:nvPr/>
        </p:nvSpPr>
        <p:spPr>
          <a:xfrm>
            <a:off x="6217920" y="1463040"/>
            <a:ext cx="1920240" cy="822960"/>
          </a:xfrm>
          <a:prstGeom prst="rect">
            <a:avLst/>
          </a:prstGeom>
          <a:solidFill>
            <a:srgbClr val="FFFFFF"/>
          </a:solidFill>
          <a:ln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ell 4"/>
          <p:cNvSpPr/>
          <p:nvPr/>
        </p:nvSpPr>
        <p:spPr>
          <a:xfrm>
            <a:off x="8321040" y="1463040"/>
            <a:ext cx="1920240" cy="822960"/>
          </a:xfrm>
          <a:prstGeom prst="rect">
            <a:avLst/>
          </a:prstGeom>
          <a:solidFill>
            <a:srgbClr val="DDE8F5"/>
          </a:solidFill>
          <a:ln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>
                <a:solidFill>
                  <a:srgbClr val="000000"/>
                </a:solidFill>
              </a:rPr>
              <a:t>g2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5603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/>
              <a:t>Each move costs 1 · each goal is worth +4 · horizon 3 (waiting is free)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3291840"/>
          <a:ext cx="10698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206240"/>
                <a:gridCol w="420624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800"/>
                        <a:t>Plans ending at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/>
                        <a:t>No evidence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/>
                        <a:t>After a move right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800"/>
                        <a:t>g1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800"/>
                        <a:t>0.72</a:t>
                      </a:r>
                      <a:r>
                        <a:rPr sz="1800"/>
                        <a:t>  (3 plans of U = 3, 2 of U = 1)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800"/>
                        <a:t>0.15</a:t>
                      </a:r>
                      <a:r>
                        <a:rPr sz="1800"/>
                        <a:t>  (1 plan of U = 1)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800"/>
                        <a:t>g2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800"/>
                        <a:t>0.24</a:t>
                      </a:r>
                      <a:r>
                        <a:rPr sz="1800"/>
                        <a:t>  (3 plans of U = 2)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800"/>
                        <a:t>0.81</a:t>
                      </a:r>
                      <a:r>
                        <a:rPr sz="1800"/>
                        <a:t>  (2 plans of U = 2)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800"/>
                        <a:t>neither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/>
                        <a:t>0.03  (13 plans)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/>
                        <a:t>0.04  (5 plans)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31520" y="54864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/>
              <a:t>g1 is still possible after moving right, but much less likely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Baseline: Translation to FiFO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1520" y="1371600"/>
            <a:ext cx="10698480" cy="1188720"/>
          </a:xfrm>
        </p:spPr>
        <p:txBody>
          <a:bodyPr wrap="square"/>
          <a:lstStyle/>
          <a:p>
            <a:pPr>
              <a:spcBef>
                <a:spcPts val="600"/>
              </a:spcBef>
            </a:pPr>
            <a:r>
              <a:rPr b="1" sz="2200"/>
              <a:t>FiFO:</a:t>
            </a:r>
            <a:r>
              <a:rPr sz="2200"/>
              <a:t> finite-domain first-order logic, compiled to propositional CNF</a:t>
            </a:r>
          </a:p>
          <a:p>
            <a:pPr>
              <a:spcBef>
                <a:spcPts val="600"/>
              </a:spcBef>
            </a:pPr>
            <a:r>
              <a:rPr b="1" sz="2200"/>
              <a:t>Weighted logic (Markov logic):</a:t>
            </a:r>
            <a:r>
              <a:rPr sz="2200"/>
              <a:t> each weighted formula adds its cost when true</a:t>
            </a:r>
          </a:p>
        </p:txBody>
      </p:sp>
      <p:sp>
        <p:nvSpPr>
          <p:cNvPr id="903" name="Body 3"/>
          <p:cNvSpPr>
            <a:spLocks noGrp="1"/>
          </p:cNvSpPr>
          <p:nvPr>
            <p:ph idx="1"/>
          </p:nvPr>
        </p:nvSpPr>
        <p:spPr>
          <a:xfrm>
            <a:off x="731520" y="3474720"/>
            <a:ext cx="10698480" cy="1737360"/>
          </a:xfrm>
        </p:spPr>
        <p:txBody>
          <a:bodyPr wrap="square"/>
          <a:lstStyle/>
          <a:p>
            <a:pPr>
              <a:spcBef>
                <a:spcPts val="600"/>
              </a:spcBef>
            </a:pPr>
            <a:r>
              <a:rPr b="1" sz="2200"/>
              <a:t>SATPLAN:</a:t>
            </a:r>
            <a:r>
              <a:rPr sz="2200"/>
              <a:t> a PDDL problem at horizon </a:t>
            </a:r>
            <a:r>
              <a:rPr i="1" sz="2200"/>
              <a:t>H</a:t>
            </a:r>
            <a:r>
              <a:rPr sz="2200"/>
              <a:t> becomes CNF over atoms </a:t>
            </a:r>
            <a:r>
              <a:rPr i="1" sz="2200"/>
              <a:t>holds(f, t)</a:t>
            </a:r>
            <a:r>
              <a:rPr sz="2200"/>
              <a:t> and </a:t>
            </a:r>
            <a:r>
              <a:rPr i="1" sz="2200"/>
              <a:t>occurs(a, t)</a:t>
            </a:r>
          </a:p>
          <a:p>
            <a:pPr lvl="1">
              <a:spcBef>
                <a:spcPts val="200"/>
              </a:spcBef>
            </a:pPr>
            <a:r>
              <a:rPr sz="1800"/>
              <a:t>each satisfying assignment is a plan; action costs become weights</a:t>
            </a:r>
          </a:p>
          <a:p>
            <a:pPr>
              <a:spcBef>
                <a:spcPts val="600"/>
              </a:spcBef>
            </a:pPr>
            <a:r>
              <a:rPr sz="2200"/>
              <a:t>Plan recognition is then a ratio of weighted model counts: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Equation"/>
              <p:cNvSpPr txBox="1"/>
              <p:nvPr/>
            </p:nvSpPr>
            <p:spPr>
              <a:xfrm>
                <a:off x="731520" y="2560320"/>
                <a:ext cx="10698480" cy="9144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sz="2400">
                          <a:latin typeface="Cambria Math"/>
                        </a:rPr>
                        <m:t>P</m:t>
                      </m:r>
                      <m:r>
                        <m:rPr>
                          <m:sty m:val="p"/>
                        </m:rPr>
                        <a:rPr sz="2400">
                          <a:latin typeface="Cambria Math"/>
                        </a:rPr>
                        <m:t>(</m:t>
                      </m:r>
                      <m:r>
                        <a:rPr sz="2400">
                          <a:latin typeface="Cambria Math"/>
                        </a:rPr>
                        <m:t>x</m:t>
                      </m:r>
                      <m:r>
                        <m:rPr>
                          <m:sty m:val="p"/>
                        </m:rPr>
                        <a:rPr sz="2400">
                          <a:latin typeface="Cambria Math"/>
                        </a:rPr>
                        <m:t>)</m:t>
                      </m:r>
                      <m:r>
                        <m:rPr>
                          <m:sty m:val="p"/>
                        </m:rPr>
                        <a:rPr sz="2400">
                          <a:latin typeface="Cambria Math"/>
                        </a:rPr>
                        <m:t>∝</m:t>
                      </m:r>
                      <m:r>
                        <m:rPr>
                          <m:sty m:val="p"/>
                        </m:rPr>
                        <a:rPr sz="2400">
                          <a:latin typeface="Cambria Math"/>
                        </a:rPr>
                        <m:t>exp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−</m:t>
                          </m:r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a:rPr sz="2400">
                                  <a:latin typeface="Cambria Math"/>
                                </a:rPr>
                                <m:t>i</m:t>
                              </m:r>
                              <m:r>
                                <a:rPr sz="2400">
                                  <a:latin typeface="Cambria Math"/>
                                </a:rPr>
                                <m:t> </m:t>
                              </m:r>
                              <m:r>
                                <m:rPr>
                                  <m:sty m:val="p"/>
                                </m:rPr>
                                <a:rPr sz="2400">
                                  <a:latin typeface="Cambria Math"/>
                                </a:rPr>
                                <m:t>:</m:t>
                              </m:r>
                              <m:r>
                                <a:rPr sz="2400">
                                  <a:latin typeface="Cambria Math"/>
                                </a:rPr>
                                <m:t> </m:t>
                              </m:r>
                              <m:r>
                                <a:rPr sz="2400">
                                  <a:latin typeface="Cambria Math"/>
                                </a:rP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a:rPr sz="2400">
                                  <a:latin typeface="Cambria Math"/>
                                </a:rPr>
                                <m:t>⊨</m:t>
                              </m:r>
                              <m:sSub>
                                <m:e>
                                  <m:r>
                                    <a:rPr sz="2400">
                                      <a:latin typeface="Cambria Math"/>
                                    </a:rPr>
                                    <m:t>f</m:t>
                                  </m:r>
                                </m:e>
                                <m:sub>
                                  <m:r>
                                    <a:rPr sz="2400">
                                      <a:latin typeface="Cambria Math"/>
                                    </a:rPr>
                                    <m:t>i</m:t>
                                  </m:r>
                                </m:sub>
                              </m:sSub>
                            </m:sub>
                            <m:sup>
                              <m:r>
                                <a:rPr sz="2400">
                                  <a:latin typeface="Cambria Math"/>
                                </a:rPr>
                                <m:t>​</m:t>
                              </m:r>
                            </m:sup>
                            <m:e>
                              <m:sSub>
                                <m:e>
                                  <m:r>
                                    <a:rPr sz="2400">
                                      <a:latin typeface="Cambria Math"/>
                                    </a:rPr>
                                    <m:t>w</m:t>
                                  </m:r>
                                </m:e>
                                <m:sub>
                                  <m:r>
                                    <a:rPr sz="2400">
                                      <a:latin typeface="Cambria Math"/>
                                    </a:rPr>
                                    <m:t>i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</a:p>
            </p:txBody>
          </p:sp>
        </mc:Choice>
        <mc:Fallback>
          <p:sp>
            <p:nvSpPr>
              <p:cNvPr id="4" name="Equation"/>
              <p:cNvSpPr txBox="1"/>
              <p:nvPr/>
            </p:nvSpPr>
            <p:spPr>
              <a:xfrm>
                <a:off x="731520" y="2560320"/>
                <a:ext cx="10698480" cy="9144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ctr"/>
                <a:r>
                  <a:rPr sz="2400"/>
                  <a:t>P(x) \propto \exp\Big(-\sum_{i \,:\, x \models f_i} w_i\Big)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04" name="Equation"/>
              <p:cNvSpPr txBox="1"/>
              <p:nvPr/>
            </p:nvSpPr>
            <p:spPr>
              <a:xfrm>
                <a:off x="731520" y="5303520"/>
                <a:ext cx="10698480" cy="100584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sz="2400">
                          <a:latin typeface="Cambria Math"/>
                        </a:rPr>
                        <m:t>P</m:t>
                      </m:r>
                      <m:r>
                        <m:rPr>
                          <m:sty m:val="p"/>
                        </m:rPr>
                        <a:rPr sz="2400">
                          <a:latin typeface="Cambria Math"/>
                        </a:rPr>
                        <m:t>(</m:t>
                      </m:r>
                      <m:r>
                        <a:rPr sz="2400">
                          <a:latin typeface="Cambria Math"/>
                        </a:rPr>
                        <m:t>g</m:t>
                      </m:r>
                      <m:r>
                        <m:rPr>
                          <m:sty m:val="p"/>
                        </m:rPr>
                        <a:rPr sz="2400">
                          <a:latin typeface="Cambria Math"/>
                        </a:rPr>
                        <m:t>∣</m:t>
                      </m:r>
                      <m:r>
                        <a:rPr sz="2400">
                          <a:latin typeface="Cambria Math"/>
                        </a:rPr>
                        <m:t>O</m:t>
                      </m:r>
                      <m:r>
                        <m:rPr>
                          <m:sty m:val="p"/>
                        </m:rPr>
                        <a:rPr sz="2400">
                          <a:latin typeface="Cambria Math"/>
                        </a:rPr>
                        <m:t>)</m:t>
                      </m:r>
                      <m:r>
                        <m:rPr>
                          <m:sty m:val="p"/>
                        </m:rPr>
                        <a:rPr sz="2400">
                          <a:latin typeface="Cambria Math"/>
                        </a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W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M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C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(</m:t>
                          </m:r>
                          <m:r>
                            <a:rPr sz="2400">
                              <a:latin typeface="Cambria Math"/>
                            </a:rPr>
                            <m:t>T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∧</m:t>
                          </m:r>
                          <m:r>
                            <a:rPr sz="2400">
                              <a:latin typeface="Cambria Math"/>
                            </a:rPr>
                            <m:t>O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∧</m:t>
                          </m:r>
                          <m:r>
                            <a:rPr sz="2400">
                              <a:latin typeface="Cambria Math"/>
                            </a:rPr>
                            <m:t>g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)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W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M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C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(</m:t>
                          </m:r>
                          <m:r>
                            <a:rPr sz="2400">
                              <a:latin typeface="Cambria Math"/>
                            </a:rPr>
                            <m:t>T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∧</m:t>
                          </m:r>
                          <m:r>
                            <a:rPr sz="2400">
                              <a:latin typeface="Cambria Math"/>
                            </a:rPr>
                            <m:t>O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  <mc:Fallback>
          <p:sp>
            <p:nvSpPr>
              <p:cNvPr id="904" name="Equation"/>
              <p:cNvSpPr txBox="1"/>
              <p:nvPr/>
            </p:nvSpPr>
            <p:spPr>
              <a:xfrm>
                <a:off x="731520" y="5303520"/>
                <a:ext cx="10698480" cy="100584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ctr"/>
                <a:r>
                  <a:rPr sz="2400"/>
                  <a:t>P(g \mid O) = \frac{\mathrm{WMC}(T \wedge O \wedge g)}{\mathrm{WMC}(T \wedge O)}</a:t>
                </a:r>
              </a:p>
            </p:txBody>
          </p:sp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 Counting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1520" y="1463040"/>
            <a:ext cx="10698480" cy="4937760"/>
          </a:xfrm>
        </p:spPr>
        <p:txBody>
          <a:bodyPr wrap="square"/>
          <a:lstStyle/>
          <a:p>
            <a:pPr>
              <a:spcBef>
                <a:spcPts val="600"/>
              </a:spcBef>
            </a:pPr>
            <a:r>
              <a:rPr b="1" sz="2800"/>
              <a:t>Exact: SharpSAT-TD</a:t>
            </a:r>
          </a:p>
          <a:p>
            <a:pPr lvl="1">
              <a:spcBef>
                <a:spcPts val="200"/>
              </a:spcBef>
            </a:pPr>
            <a:r>
              <a:rPr sz="2400"/>
              <a:t>DPLL search with component caching, guided by a tree decomposition</a:t>
            </a:r>
          </a:p>
          <a:p>
            <a:pPr lvl="1">
              <a:spcBef>
                <a:spcPts val="200"/>
              </a:spcBef>
            </a:pPr>
            <a:r>
              <a:rPr sz="2400"/>
              <a:t>exact answers; #P-hard in general</a:t>
            </a:r>
          </a:p>
          <a:p>
            <a:pPr>
              <a:spcBef>
                <a:spcPts val="600"/>
              </a:spcBef>
            </a:pPr>
            <a:r>
              <a:rPr b="1" sz="2800"/>
              <a:t>Approximate: Monte Carlo (MC-SAT)</a:t>
            </a:r>
          </a:p>
          <a:p>
            <a:pPr lvl="1">
              <a:spcBef>
                <a:spcPts val="200"/>
              </a:spcBef>
            </a:pPr>
            <a:r>
              <a:rPr sz="2400"/>
              <a:t>Markov chain whose steps sample satisfying assignments with a SAT-based sampler</a:t>
            </a:r>
          </a:p>
          <a:p>
            <a:pPr lvl="1">
              <a:spcBef>
                <a:spcPts val="200"/>
              </a:spcBef>
            </a:pPr>
            <a:r>
              <a:rPr sz="2400"/>
              <a:t>all marginals from one run; can mix slowly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Max-Model Approximation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1520" y="1371600"/>
            <a:ext cx="10698480" cy="2194560"/>
          </a:xfrm>
        </p:spPr>
        <p:txBody>
          <a:bodyPr wrap="square"/>
          <a:lstStyle/>
          <a:p>
            <a:pPr>
              <a:spcBef>
                <a:spcPts val="600"/>
              </a:spcBef>
            </a:pPr>
            <a:r>
              <a:rPr sz="2200"/>
              <a:t>Replace each sum over plans by its largest term: the cheapest plan (Ramírez &amp; Geffner 2010)</a:t>
            </a:r>
          </a:p>
          <a:p>
            <a:pPr>
              <a:spcBef>
                <a:spcPts val="600"/>
              </a:spcBef>
            </a:pPr>
            <a:r>
              <a:rPr sz="2200"/>
              <a:t>For each goal </a:t>
            </a:r>
            <a:r>
              <a:rPr i="1" sz="2200"/>
              <a:t>g</a:t>
            </a:r>
            <a:r>
              <a:rPr sz="2200"/>
              <a:t>, two MaxSAT calls:</a:t>
            </a:r>
          </a:p>
          <a:p>
            <a:pPr lvl="1">
              <a:spcBef>
                <a:spcPts val="200"/>
              </a:spcBef>
            </a:pPr>
            <a:r>
              <a:rPr sz="1800"/>
              <a:t>c(g, O): cheapest plan to </a:t>
            </a:r>
            <a:r>
              <a:rPr i="1" sz="1800"/>
              <a:t>g</a:t>
            </a:r>
            <a:r>
              <a:rPr sz="1800"/>
              <a:t> consistent with the observations</a:t>
            </a:r>
          </a:p>
          <a:p>
            <a:pPr lvl="1">
              <a:spcBef>
                <a:spcPts val="200"/>
              </a:spcBef>
            </a:pPr>
            <a:r>
              <a:rPr sz="1800"/>
              <a:t>c(g, ¬O): cheapest plan to </a:t>
            </a:r>
            <a:r>
              <a:rPr i="1" sz="1800"/>
              <a:t>g</a:t>
            </a:r>
            <a:r>
              <a:rPr sz="1800"/>
              <a:t> that is not</a:t>
            </a:r>
          </a:p>
        </p:txBody>
      </p:sp>
      <p:sp>
        <p:nvSpPr>
          <p:cNvPr id="903" name="Body 3"/>
          <p:cNvSpPr>
            <a:spLocks noGrp="1"/>
          </p:cNvSpPr>
          <p:nvPr>
            <p:ph idx="1"/>
          </p:nvPr>
        </p:nvSpPr>
        <p:spPr>
          <a:xfrm>
            <a:off x="731520" y="4572000"/>
            <a:ext cx="10698480" cy="1463040"/>
          </a:xfrm>
        </p:spPr>
        <p:txBody>
          <a:bodyPr wrap="square"/>
          <a:lstStyle/>
          <a:p>
            <a:pPr>
              <a:spcBef>
                <a:spcPts val="600"/>
              </a:spcBef>
            </a:pPr>
            <a:r>
              <a:rPr sz="2200"/>
              <a:t>No counting, only optimization: 2</a:t>
            </a:r>
            <a:r>
              <a:rPr i="1" sz="2200"/>
              <a:t>n</a:t>
            </a:r>
            <a:r>
              <a:rPr sz="2200"/>
              <a:t> MaxSAT calls for </a:t>
            </a:r>
            <a:r>
              <a:rPr i="1" sz="2200"/>
              <a:t>n</a:t>
            </a:r>
            <a:r>
              <a:rPr sz="2200"/>
              <a:t> goals</a:t>
            </a:r>
          </a:p>
          <a:p>
            <a:pPr>
              <a:spcBef>
                <a:spcPts val="600"/>
              </a:spcBef>
            </a:pPr>
            <a:r>
              <a:rPr sz="2200"/>
              <a:t>Ignores </a:t>
            </a:r>
            <a:r>
              <a:rPr i="1" sz="2200"/>
              <a:t>how many</a:t>
            </a:r>
            <a:r>
              <a:rPr sz="2200"/>
              <a:t> plans there are, so goals with equally cheap plans tie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Equation"/>
              <p:cNvSpPr txBox="1"/>
              <p:nvPr/>
            </p:nvSpPr>
            <p:spPr>
              <a:xfrm>
                <a:off x="731520" y="3657600"/>
                <a:ext cx="10698480" cy="82296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sz="2400">
                          <a:latin typeface="Cambria Math"/>
                        </a:rPr>
                        <m:t>P</m:t>
                      </m:r>
                      <m:r>
                        <m:rPr>
                          <m:sty m:val="p"/>
                        </m:rPr>
                        <a:rPr sz="2400">
                          <a:latin typeface="Cambria Math"/>
                        </a:rPr>
                        <m:t>(</m:t>
                      </m:r>
                      <m:r>
                        <a:rPr sz="2400">
                          <a:latin typeface="Cambria Math"/>
                        </a:rPr>
                        <m:t>g</m:t>
                      </m:r>
                      <m:r>
                        <m:rPr>
                          <m:sty m:val="p"/>
                        </m:rPr>
                        <a:rPr sz="2400">
                          <a:latin typeface="Cambria Math"/>
                        </a:rPr>
                        <m:t>∣</m:t>
                      </m:r>
                      <m:r>
                        <a:rPr sz="2400">
                          <a:latin typeface="Cambria Math"/>
                        </a:rPr>
                        <m:t>O</m:t>
                      </m:r>
                      <m:r>
                        <m:rPr>
                          <m:sty m:val="p"/>
                        </m:rPr>
                        <a:rPr sz="2400">
                          <a:latin typeface="Cambria Math"/>
                        </a:rPr>
                        <m:t>)</m:t>
                      </m:r>
                      <m:r>
                        <m:rPr>
                          <m:sty m:val="p"/>
                        </m:rPr>
                        <a:rPr sz="2400">
                          <a:latin typeface="Cambria Math"/>
                        </a:rPr>
                        <m:t>∝</m:t>
                      </m:r>
                      <m:r>
                        <a:rPr sz="2400">
                          <a:latin typeface="Cambria Math"/>
                        </a:rPr>
                        <m:t>σ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a:rPr sz="2400">
                              <a:latin typeface="Cambria Math"/>
                            </a:rPr>
                            <m:t>β</m:t>
                          </m:r>
                          <m:r>
                            <a:rPr sz="2400">
                              <a:latin typeface="Cambria Math"/>
                            </a:rPr>
                            <m:t> 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(</m:t>
                          </m:r>
                          <m:r>
                            <a:rPr sz="2400">
                              <a:latin typeface="Cambria Math"/>
                            </a:rPr>
                            <m:t>c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(</m:t>
                          </m:r>
                          <m:r>
                            <a:rPr sz="2400">
                              <a:latin typeface="Cambria Math"/>
                            </a:rPr>
                            <m:t>g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¬</m:t>
                          </m:r>
                          <m:r>
                            <a:rPr sz="2400">
                              <a:latin typeface="Cambria Math"/>
                            </a:rPr>
                            <m:t>O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)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−</m:t>
                          </m:r>
                          <m:r>
                            <a:rPr sz="2400">
                              <a:latin typeface="Cambria Math"/>
                            </a:rPr>
                            <m:t>c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(</m:t>
                          </m:r>
                          <m:r>
                            <a:rPr sz="2400">
                              <a:latin typeface="Cambria Math"/>
                            </a:rPr>
                            <m:t>g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,</m:t>
                          </m:r>
                          <m:r>
                            <a:rPr sz="2400">
                              <a:latin typeface="Cambria Math"/>
                            </a:rPr>
                            <m:t>O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)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)</m:t>
                          </m:r>
                        </m:e>
                      </m:d>
                    </m:oMath>
                  </m:oMathPara>
                </a14:m>
              </a:p>
            </p:txBody>
          </p:sp>
        </mc:Choice>
        <mc:Fallback>
          <p:sp>
            <p:nvSpPr>
              <p:cNvPr id="4" name="Equation"/>
              <p:cNvSpPr txBox="1"/>
              <p:nvPr/>
            </p:nvSpPr>
            <p:spPr>
              <a:xfrm>
                <a:off x="731520" y="3657600"/>
                <a:ext cx="10698480" cy="82296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ctr"/>
                <a:r>
                  <a:rPr sz="2400"/>
                  <a:t>P(g \mid O) \propto \sigma\big(\beta\,(c(g,\neg O) - c(g, O))\big)</a:t>
                </a:r>
              </a:p>
            </p:txBody>
          </p:sp>
        </mc:Fallback>
      </mc:AlternateContent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 on Simple Grids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904" name="Body 4"/>
          <p:cNvSpPr>
            <a:spLocks noGrp="1"/>
          </p:cNvSpPr>
          <p:nvPr>
            <p:ph idx="1"/>
          </p:nvPr>
        </p:nvSpPr>
        <p:spPr>
          <a:xfrm>
            <a:off x="731520" y="4800600"/>
            <a:ext cx="10698480" cy="1737360"/>
          </a:xfrm>
        </p:spPr>
        <p:txBody>
          <a:bodyPr wrap="square"/>
          <a:lstStyle/>
          <a:p>
            <a:pPr>
              <a:spcBef>
                <a:spcPts val="600"/>
              </a:spcBef>
            </a:pPr>
            <a:r>
              <a:rPr sz="1800"/>
              <a:t>P = mean probability given to the true goal (chance = 1 / goals); time = mean per run</a:t>
            </a:r>
          </a:p>
          <a:p>
            <a:pPr>
              <a:spcBef>
                <a:spcPts val="600"/>
              </a:spcBef>
            </a:pPr>
            <a:r>
              <a:rPr sz="1800"/>
              <a:t>Counting does not scale: † on 7×7, 36 SharpSAT-TD and 2 MC-SAT runs of 144 hit the 20-minute limit; none finished on 8×8</a:t>
            </a:r>
          </a:p>
          <a:p>
            <a:pPr>
              <a:spcBef>
                <a:spcPts val="600"/>
              </a:spcBef>
            </a:pPr>
            <a:r>
              <a:rPr sz="1800"/>
              <a:t>Max-term always finishes but ties every goal: early moves on an open grid say little about the goal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6984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868680"/>
                <a:gridCol w="1143000"/>
                <a:gridCol w="1371600"/>
                <a:gridCol w="2103120"/>
                <a:gridCol w="2148840"/>
                <a:gridCol w="2148840"/>
              </a:tblGrid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600"/>
                        <a:t>Grid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Goals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CNF vars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CNF clauses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Max-term
P / time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SharpSAT-TD
P / time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MC-SAT
P / time</a:t>
                      </a:r>
                    </a:p>
                  </a:txBody>
                  <a:tcPr anchor="ctr"/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600"/>
                        <a:t>3×3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2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141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818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0.50 / 12 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0.50 / 16 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0.51 / 14 s</a:t>
                      </a:r>
                    </a:p>
                  </a:txBody>
                  <a:tcPr anchor="ctr"/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600"/>
                        <a:t>4×4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3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400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2,609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0.33 / 16 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0.37 / 20 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0.36 / 33 s</a:t>
                      </a:r>
                    </a:p>
                  </a:txBody>
                  <a:tcPr anchor="ctr"/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600"/>
                        <a:t>5×5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4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812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5,621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0.26 / 35 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0.27 / 35 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0.25 / 210 s</a:t>
                      </a:r>
                    </a:p>
                  </a:txBody>
                  <a:tcPr anchor="ctr"/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600"/>
                        <a:t>6×6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5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1,557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11,191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0.20 / 30 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0.21 / 38 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0.19 / 349 s</a:t>
                      </a:r>
                    </a:p>
                  </a:txBody>
                  <a:tcPr anchor="ctr"/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600"/>
                        <a:t>7×7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6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2,436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17,936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0.18 / 40 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0.20 / 105 s †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0.19 / 737 s †</a:t>
                      </a:r>
                    </a:p>
                  </a:txBody>
                  <a:tcPr anchor="ctr"/>
                </a:tc>
              </a:tr>
              <a:tr h="470268">
                <a:tc>
                  <a:txBody>
                    <a:bodyPr wrap="square"/>
                    <a:lstStyle/>
                    <a:p>
                      <a:pPr algn="l"/>
                      <a:r>
                        <a:rPr sz="1600"/>
                        <a:t>8×8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7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4,024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30,205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0.15 / 61 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none finished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none finished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Knowledge Compilation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1520" y="1371600"/>
            <a:ext cx="10698480" cy="1097280"/>
          </a:xfrm>
        </p:spPr>
        <p:txBody>
          <a:bodyPr wrap="square"/>
          <a:lstStyle/>
          <a:p>
            <a:pPr>
              <a:spcBef>
                <a:spcPts val="600"/>
              </a:spcBef>
            </a:pPr>
            <a:r>
              <a:rPr sz="2200"/>
              <a:t>Compile the problem once to a d-DNNF circuit (d4), with no evidence</a:t>
            </a:r>
          </a:p>
          <a:p>
            <a:pPr>
              <a:spcBef>
                <a:spcPts val="600"/>
              </a:spcBef>
            </a:pPr>
            <a:r>
              <a:rPr sz="2200"/>
              <a:t>Then marginals given </a:t>
            </a:r>
            <a:r>
              <a:rPr i="1" sz="2200"/>
              <a:t>any</a:t>
            </a:r>
            <a:r>
              <a:rPr sz="2200"/>
              <a:t> observed moves come from one pass over the circuit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2560320"/>
          <a:ext cx="106984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188720"/>
                <a:gridCol w="1280160"/>
                <a:gridCol w="1463040"/>
                <a:gridCol w="1737360"/>
                <a:gridCol w="2011680"/>
                <a:gridCol w="2011680"/>
              </a:tblGrid>
              <a:tr h="431074">
                <a:tc>
                  <a:txBody>
                    <a:bodyPr wrap="square"/>
                    <a:lstStyle/>
                    <a:p>
                      <a:pPr algn="l"/>
                      <a:r>
                        <a:rPr sz="1600"/>
                        <a:t>Grid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Horizon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CNF vars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CNF clauses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Compile time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Circuit nodes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Query, 2 obs.</a:t>
                      </a:r>
                    </a:p>
                  </a:txBody>
                  <a:tcPr anchor="ctr"/>
                </a:tc>
              </a:tr>
              <a:tr h="431074">
                <a:tc>
                  <a:txBody>
                    <a:bodyPr wrap="square"/>
                    <a:lstStyle/>
                    <a:p>
                      <a:pPr algn="l"/>
                      <a:r>
                        <a:rPr sz="1600"/>
                        <a:t>3×3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5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141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818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0.04 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44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0.001 s</a:t>
                      </a:r>
                    </a:p>
                  </a:txBody>
                  <a:tcPr anchor="ctr"/>
                </a:tc>
              </a:tr>
              <a:tr h="431074">
                <a:tc>
                  <a:txBody>
                    <a:bodyPr wrap="square"/>
                    <a:lstStyle/>
                    <a:p>
                      <a:pPr algn="l"/>
                      <a:r>
                        <a:rPr sz="1600"/>
                        <a:t>5×5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8.5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812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5,621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0.09 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1,108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0.007 s</a:t>
                      </a:r>
                    </a:p>
                  </a:txBody>
                  <a:tcPr anchor="ctr"/>
                </a:tc>
              </a:tr>
              <a:tr h="431074">
                <a:tc>
                  <a:txBody>
                    <a:bodyPr wrap="square"/>
                    <a:lstStyle/>
                    <a:p>
                      <a:pPr algn="l"/>
                      <a:r>
                        <a:rPr sz="1600"/>
                        <a:t>6×6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10.75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1,557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11,191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1.4 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21,140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0.017 s</a:t>
                      </a:r>
                    </a:p>
                  </a:txBody>
                  <a:tcPr anchor="ctr"/>
                </a:tc>
              </a:tr>
              <a:tr h="431074">
                <a:tc>
                  <a:txBody>
                    <a:bodyPr wrap="square"/>
                    <a:lstStyle/>
                    <a:p>
                      <a:pPr algn="l"/>
                      <a:r>
                        <a:rPr sz="1600"/>
                        <a:t>7×7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12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2,436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17,936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6.8 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82,748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0.035 s</a:t>
                      </a:r>
                    </a:p>
                  </a:txBody>
                  <a:tcPr anchor="ctr"/>
                </a:tc>
              </a:tr>
              <a:tr h="431074">
                <a:tc>
                  <a:txBody>
                    <a:bodyPr wrap="square"/>
                    <a:lstStyle/>
                    <a:p>
                      <a:pPr algn="l"/>
                      <a:r>
                        <a:rPr sz="1600"/>
                        <a:t>8×8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14.75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4,024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30,205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104 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785,660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0.24 s</a:t>
                      </a:r>
                    </a:p>
                  </a:txBody>
                  <a:tcPr anchor="ctr"/>
                </a:tc>
              </a:tr>
              <a:tr h="431076">
                <a:tc>
                  <a:txBody>
                    <a:bodyPr wrap="square"/>
                    <a:lstStyle/>
                    <a:p>
                      <a:pPr algn="l"/>
                      <a:r>
                        <a:rPr sz="1600"/>
                        <a:t>9×9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16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5,616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42,712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418 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2,525,681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0.45 s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57607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/>
              <a:t>10×10 did not compile within 20 minutes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 on Two-Package Grids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905" name="Body 5"/>
          <p:cNvSpPr>
            <a:spLocks noGrp="1"/>
          </p:cNvSpPr>
          <p:nvPr>
            <p:ph idx="1"/>
          </p:nvPr>
        </p:nvSpPr>
        <p:spPr>
          <a:xfrm>
            <a:off x="731520" y="5074920"/>
            <a:ext cx="10698480" cy="1691640"/>
          </a:xfrm>
        </p:spPr>
        <p:txBody>
          <a:bodyPr wrap="square"/>
          <a:lstStyle/>
          <a:p>
            <a:pPr>
              <a:spcBef>
                <a:spcPts val="600"/>
              </a:spcBef>
            </a:pPr>
            <a:r>
              <a:rPr sz="1700"/>
              <a:t>P = mean probability given to the true goal over finished runs; time = mean per run; CNF sizes are means over the 4 problems; 20-minute limit; a method that timed out was not run on larger grids</a:t>
            </a:r>
          </a:p>
          <a:p>
            <a:pPr>
              <a:spcBef>
                <a:spcPts val="600"/>
              </a:spcBef>
            </a:pPr>
            <a:r>
              <a:rPr sz="1700"/>
              <a:t>Counting stops early: SharpSAT-TD finished none of 8 runs on 6×6; † MC-SAT finished 4 of 16 on 5×5</a:t>
            </a:r>
          </a:p>
          <a:p>
            <a:pPr>
              <a:spcBef>
                <a:spcPts val="600"/>
              </a:spcBef>
            </a:pPr>
            <a:r>
              <a:rPr sz="1700"/>
              <a:t>Max-term finishes everything, within 0.06 of exact counting, but its top goal is a tie in 216 of 240 runs</a:t>
            </a:r>
          </a:p>
          <a:p>
            <a:pPr>
              <a:spcBef>
                <a:spcPts val="600"/>
              </a:spcBef>
            </a:pPr>
            <a:r>
              <a:rPr sz="1700"/>
              <a:t>d4 compiles through 6×6; each query then takes ≤ 0.26 s and matches SharpSAT-TD to 2·10⁻¹⁵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/>
              <a:t>One truck, two packages, two possible destinations each; the agent delivers one package: 4 goals (chance = 0.25), 4 instances per grid, 1 … N−2 observed actions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2057400"/>
          <a:ext cx="106984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1097280"/>
                <a:gridCol w="1325880"/>
                <a:gridCol w="1828800"/>
                <a:gridCol w="1828800"/>
                <a:gridCol w="1828800"/>
                <a:gridCol w="1920240"/>
              </a:tblGrid>
              <a:tr h="426720">
                <a:tc>
                  <a:txBody>
                    <a:bodyPr wrap="square"/>
                    <a:lstStyle/>
                    <a:p>
                      <a:pPr algn="l"/>
                      <a:r>
                        <a:rPr sz="1600"/>
                        <a:t>Grid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CNF vars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CNF clauses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Max-term
P / time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SharpSAT-TD
P / time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MC-SAT
P / time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d4 compile
done · time</a:t>
                      </a:r>
                    </a:p>
                  </a:txBody>
                  <a:tcPr anchor="ctr"/>
                </a:tc>
              </a:tr>
              <a:tr h="426720">
                <a:tc>
                  <a:txBody>
                    <a:bodyPr wrap="square"/>
                    <a:lstStyle/>
                    <a:p>
                      <a:pPr algn="l"/>
                      <a:r>
                        <a:rPr sz="1600"/>
                        <a:t>3×3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751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10,533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0.40 / 24 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0.46 / 28 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0.37 / 85 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4 of 4 · 4 s</a:t>
                      </a:r>
                    </a:p>
                  </a:txBody>
                  <a:tcPr anchor="ctr"/>
                </a:tc>
              </a:tr>
              <a:tr h="426720">
                <a:tc>
                  <a:txBody>
                    <a:bodyPr wrap="square"/>
                    <a:lstStyle/>
                    <a:p>
                      <a:pPr algn="l"/>
                      <a:r>
                        <a:rPr sz="1600"/>
                        <a:t>4×4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1,893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40,065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0.35 / 35 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0.39 / 52 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0.31 / 454 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4 of 4 · 5 s</a:t>
                      </a:r>
                    </a:p>
                  </a:txBody>
                  <a:tcPr anchor="ctr"/>
                </a:tc>
              </a:tr>
              <a:tr h="426720">
                <a:tc>
                  <a:txBody>
                    <a:bodyPr wrap="square"/>
                    <a:lstStyle/>
                    <a:p>
                      <a:pPr algn="l"/>
                      <a:r>
                        <a:rPr sz="1600"/>
                        <a:t>5×5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3,147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93,878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0.39 / 56 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0.41 / 67 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0.32 / 579 s †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4 of 4 · 9 s</a:t>
                      </a:r>
                    </a:p>
                  </a:txBody>
                  <a:tcPr anchor="ctr"/>
                </a:tc>
              </a:tr>
              <a:tr h="426720">
                <a:tc>
                  <a:txBody>
                    <a:bodyPr wrap="square"/>
                    <a:lstStyle/>
                    <a:p>
                      <a:pPr algn="l"/>
                      <a:r>
                        <a:rPr sz="1600"/>
                        <a:t>6×6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5,797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234,150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0.39 / 103 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none finished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not run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4 of 4 · 105 s</a:t>
                      </a:r>
                    </a:p>
                  </a:txBody>
                  <a:tcPr anchor="ctr"/>
                </a:tc>
              </a:tr>
              <a:tr h="426720">
                <a:tc>
                  <a:txBody>
                    <a:bodyPr wrap="square"/>
                    <a:lstStyle/>
                    <a:p>
                      <a:pPr algn="l"/>
                      <a:r>
                        <a:rPr sz="1600"/>
                        <a:t>7×7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9,925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523,734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0.39 / 355 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not run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not run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2 of 4 · 207 s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Test Problem Archive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1520" y="1463040"/>
            <a:ext cx="10698480" cy="4937760"/>
          </a:xfrm>
        </p:spPr>
        <p:txBody>
          <a:bodyPr wrap="square"/>
          <a:lstStyle/>
          <a:p>
            <a:pPr>
              <a:spcBef>
                <a:spcPts val="600"/>
              </a:spcBef>
            </a:pPr>
            <a:r>
              <a:rPr b="1" sz="2800"/>
              <a:t>GitHub:</a:t>
            </a:r>
            <a:r>
              <a:rPr sz="2800"/>
              <a:t> github.com/HenryKautz/CLARA</a:t>
            </a:r>
          </a:p>
          <a:p>
            <a:pPr lvl="1">
              <a:spcBef>
                <a:spcPts val="200"/>
              </a:spcBef>
            </a:pPr>
            <a:r>
              <a:rPr sz="2400"/>
              <a:t>tools: github.com/HenryKautz/FiFO</a:t>
            </a:r>
          </a:p>
          <a:p>
            <a:pPr>
              <a:spcBef>
                <a:spcPts val="600"/>
              </a:spcBef>
            </a:pPr>
            <a:r>
              <a:rPr b="1" sz="2800"/>
              <a:t>Problem generator:</a:t>
            </a:r>
            <a:r>
              <a:rPr sz="2800"/>
              <a:t> ppgen makes problems, planner finds plans, evgen turns plans into observations</a:t>
            </a:r>
          </a:p>
          <a:p>
            <a:pPr>
              <a:spcBef>
                <a:spcPts val="600"/>
              </a:spcBef>
            </a:pPr>
            <a:r>
              <a:rPr b="1" sz="2800"/>
              <a:t>Simple grid instances:</a:t>
            </a:r>
            <a:r>
              <a:rPr sz="2800"/>
              <a:t> N×N grids, N = 3 … 10, one truck, several possible destinations</a:t>
            </a:r>
          </a:p>
          <a:p>
            <a:pPr>
              <a:spcBef>
                <a:spcPts val="600"/>
              </a:spcBef>
            </a:pPr>
            <a:r>
              <a:rPr b="1" sz="2800"/>
              <a:t>Two-package instances:</a:t>
            </a:r>
            <a:r>
              <a:rPr sz="2800"/>
              <a:t> N×N grids, N = 3 … 7, two packages with two possible destinations each</a:t>
            </a:r>
          </a:p>
          <a:p>
            <a:pPr>
              <a:spcBef>
                <a:spcPts val="600"/>
              </a:spcBef>
            </a:pPr>
            <a:r>
              <a:rPr b="1" sz="2800"/>
              <a:t>Baseline results:</a:t>
            </a:r>
            <a:r>
              <a:rPr sz="2800"/>
              <a:t> the tables on the previous three slides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